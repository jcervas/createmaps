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C1EB"/>
    <a:srgbClr val="F0A1A0"/>
    <a:srgbClr val="F0BFBE"/>
    <a:srgbClr val="B3D3EC"/>
    <a:srgbClr val="F9D38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80"/>
    <p:restoredTop sz="94635"/>
  </p:normalViewPr>
  <p:slideViewPr>
    <p:cSldViewPr snapToGrid="0">
      <p:cViewPr varScale="1">
        <p:scale>
          <a:sx n="156" d="100"/>
          <a:sy n="156" d="100"/>
        </p:scale>
        <p:origin x="192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5F1E1D-796B-2044-A749-6660BB52FB68}" type="datetimeFigureOut">
              <a:rPr lang="en-US" smtClean="0"/>
              <a:t>4/29/26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8B950A-1D44-2149-86FB-79A245E28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812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B950A-1D44-2149-86FB-79A245E288A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235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CBCCF-31A7-6983-55E3-9F5C845AF8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138E94-1530-E44D-4855-6C60784639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3BBF6-6B76-7ADF-2C66-FCE1729A2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F660F-B95C-E441-A6B1-15593FB91D6A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B3AB1-07CA-53C3-3484-D729EC59A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D3361-4808-9005-4AF7-1BC85805B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A0124-878F-734B-8095-DDCD88113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076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15852-C2C6-389D-61F1-D6EA2C9FB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9406C-38BE-FECF-AB4F-96DB2955C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AEEE7-7329-98D2-B0B7-64F1BE266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F660F-B95C-E441-A6B1-15593FB91D6A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9CBA8-F96D-29EE-1314-9D3567210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DD827-F490-853A-5CCC-1676FF35C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A0124-878F-734B-8095-DDCD88113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13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3C4EB-9CB3-737D-638E-E4B1CD518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350F9F-E4D4-B022-8A03-065CBD068D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B677A-9EC5-EFAB-EBC9-3F7A8F796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F660F-B95C-E441-A6B1-15593FB91D6A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92BD41-6C39-8505-C295-E0D2B9855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7619D-1491-238E-2BD6-3D5B2D7E3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A0124-878F-734B-8095-DDCD88113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841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979E8-0901-CFF9-F29B-B786B4BBD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74C47-C937-A929-3017-88AFD4EF31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437F1B-CEB7-9114-E806-AD37630AD7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975B45-C807-C5F3-3DC7-C284DC32F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F660F-B95C-E441-A6B1-15593FB91D6A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D538D5-C418-4475-C01F-A71A93B5A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2E576B-FC61-0C19-D2C6-C19CE54BC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A0124-878F-734B-8095-DDCD88113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846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C81D0-ED07-96A1-CFD8-052B423E0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8C8A47-81B0-17A2-A0CD-D0C3BFF064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D44848-4DE7-98A9-E19E-72D04BE55D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2416B3-3F98-0083-4E24-55DB3AB562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38A14E-1885-172B-B875-0F1B7DD104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934932-3E7A-6975-560A-900087705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F660F-B95C-E441-A6B1-15593FB91D6A}" type="datetimeFigureOut">
              <a:rPr lang="en-US" smtClean="0"/>
              <a:t>4/29/26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ACEA3A-1981-6822-5521-B10A7B551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D6310E-5C8F-87D8-64E1-3B798179B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A0124-878F-734B-8095-DDCD88113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106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E235A-1B8B-280E-965F-AF2F54F37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4EAF6D-E371-7AA4-CD56-15B41E8A3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F660F-B95C-E441-A6B1-15593FB91D6A}" type="datetimeFigureOut">
              <a:rPr lang="en-US" smtClean="0"/>
              <a:t>4/29/26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4388F5-8E8B-6734-B376-3CD18872F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AA636C-49ED-910A-6356-C88DD6472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A0124-878F-734B-8095-DDCD88113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941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ED6784-F126-83D5-CC1B-4A7C496FC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F660F-B95C-E441-A6B1-15593FB91D6A}" type="datetimeFigureOut">
              <a:rPr lang="en-US" smtClean="0"/>
              <a:t>4/29/26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FCF1E4-9BC4-D685-0E6B-498176E09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38D9BC-B101-CD2D-0531-55E38B76F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A0124-878F-734B-8095-DDCD88113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375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F27AE-CFFA-D2C1-0CBA-1B2D49A96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9AE33-6CC9-5247-1C98-E49D9A773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6D71CC-96DC-5AF7-62E5-5F17ED629B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59E04-3A0C-8A60-6B18-6C0FDE954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F660F-B95C-E441-A6B1-15593FB91D6A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D8E5D9-2265-EC29-869C-03B7F8602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F6B44D-448B-6848-7543-46158599C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A0124-878F-734B-8095-DDCD88113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355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14690-B1F7-23AC-B65B-44844B4F1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A1BAFB-48DC-15F7-74CB-75321D9D6B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BD4129-F3E5-C3CF-EA90-3F836E46A4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3A2DA-7EF8-30F5-881C-A6EEB2E5E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F660F-B95C-E441-A6B1-15593FB91D6A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C010F5-FD65-6A4E-F512-F83E871F9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18EF51-8E5E-0A61-AAAE-3AF6899C6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A0124-878F-734B-8095-DDCD88113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429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5FD99-8554-7EE7-B6B2-38BA8E4EC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A6625C-E4C0-EB2E-3CE9-7134ECB00A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668046-1D98-EBDE-72F5-E590C23C1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F660F-B95C-E441-A6B1-15593FB91D6A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15E6F0-BD44-88E6-F8D8-CC08E33CB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FEB3C-C6C6-3823-E8C6-1FDC93375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A0124-878F-734B-8095-DDCD88113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19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698B7D-A03E-E19A-3671-DDAAB7DBFB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5D8E9C-F044-E2A0-1EE2-78D9183BA5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772048-E0C4-B35C-22FC-7807C22D2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F660F-B95C-E441-A6B1-15593FB91D6A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40896-33E9-43C2-7149-EAC6E484E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4C83E4-2B34-0081-722D-143C8F75D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A0124-878F-734B-8095-DDCD88113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978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2EA095-4207-EBF0-2872-7C76A14E7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5F102-3715-1588-6EB3-67898B0F45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95937-B3F9-EBCE-B148-FF65B126C2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4F660F-B95C-E441-A6B1-15593FB91D6A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F5A7F-1C29-6C82-E5DC-48F3EB82B1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9111C-98E0-A264-371D-FBE740606E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5A0124-878F-734B-8095-DDCD88113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048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F19F39E3-88A0-0447-1356-D35CE9047E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169" t="53824" r="757" b="44423"/>
          <a:stretch>
            <a:fillRect/>
          </a:stretch>
        </p:blipFill>
        <p:spPr>
          <a:xfrm>
            <a:off x="-83501" y="6565076"/>
            <a:ext cx="12275501" cy="290043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71131AC4-2358-72EA-184F-E6A5D20B57D5}"/>
              </a:ext>
            </a:extLst>
          </p:cNvPr>
          <p:cNvSpPr txBox="1"/>
          <p:nvPr/>
        </p:nvSpPr>
        <p:spPr>
          <a:xfrm>
            <a:off x="1023221" y="5840794"/>
            <a:ext cx="738892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Note: Utah redrawn after court order. Ohio redraw as required by statute. Louisiana map struck down as a racial gerrymander (</a:t>
            </a:r>
            <a:r>
              <a:rPr lang="en-US" sz="1100" i="1" dirty="0">
                <a:solidFill>
                  <a:schemeClr val="bg1">
                    <a:lumMod val="50000"/>
                  </a:schemeClr>
                </a:solidFill>
              </a:rPr>
              <a:t>LA v. Callias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). Mississippi, Alabama, Tennessee, and South Carolina have taken steps to prepare new maps after </a:t>
            </a:r>
            <a:r>
              <a:rPr lang="en-US" sz="1100" i="1" dirty="0">
                <a:solidFill>
                  <a:schemeClr val="bg1">
                    <a:lumMod val="50000"/>
                  </a:schemeClr>
                </a:solidFill>
              </a:rPr>
              <a:t>Callias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. Data: Dave’s Redistricting, VEST.</a:t>
            </a:r>
          </a:p>
        </p:txBody>
      </p:sp>
      <p:graphicFrame>
        <p:nvGraphicFramePr>
          <p:cNvPr id="50" name="Table 49">
            <a:extLst>
              <a:ext uri="{FF2B5EF4-FFF2-40B4-BE49-F238E27FC236}">
                <a16:creationId xmlns:a16="http://schemas.microsoft.com/office/drawing/2014/main" id="{35C1EA9B-79EA-BA58-C1AE-0139F81C91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9541586"/>
              </p:ext>
            </p:extLst>
          </p:nvPr>
        </p:nvGraphicFramePr>
        <p:xfrm>
          <a:off x="9999529" y="4452415"/>
          <a:ext cx="1379062" cy="1264260"/>
        </p:xfrm>
        <a:graphic>
          <a:graphicData uri="http://schemas.openxmlformats.org/drawingml/2006/table">
            <a:tbl>
              <a:tblPr firstRow="1" bandRow="1"/>
              <a:tblGrid>
                <a:gridCol w="846723">
                  <a:extLst>
                    <a:ext uri="{9D8B030D-6E8A-4147-A177-3AD203B41FA5}">
                      <a16:colId xmlns:a16="http://schemas.microsoft.com/office/drawing/2014/main" val="2899711490"/>
                    </a:ext>
                  </a:extLst>
                </a:gridCol>
                <a:gridCol w="532339">
                  <a:extLst>
                    <a:ext uri="{9D8B030D-6E8A-4147-A177-3AD203B41FA5}">
                      <a16:colId xmlns:a16="http://schemas.microsoft.com/office/drawing/2014/main" val="1116278752"/>
                    </a:ext>
                  </a:extLst>
                </a:gridCol>
              </a:tblGrid>
              <a:tr h="136016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70592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1" dirty="0"/>
                        <a:t>Democrat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baseline="30000" dirty="0">
                          <a:solidFill>
                            <a:srgbClr val="8CC1EB"/>
                          </a:solidFill>
                        </a:rPr>
                        <a:t>+</a:t>
                      </a:r>
                      <a:r>
                        <a:rPr lang="en-US" sz="1200" b="1" dirty="0">
                          <a:solidFill>
                            <a:srgbClr val="8CC1EB"/>
                          </a:solidFill>
                        </a:rPr>
                        <a:t>10.27</a:t>
                      </a:r>
                      <a:endParaRPr lang="en-US" sz="1200" b="1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23081810"/>
                  </a:ext>
                </a:extLst>
              </a:tr>
              <a:tr h="319710">
                <a:tc>
                  <a:txBody>
                    <a:bodyPr/>
                    <a:lstStyle/>
                    <a:p>
                      <a:r>
                        <a:rPr lang="en-US" sz="1200" b="1" dirty="0"/>
                        <a:t>Republican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baseline="30000" dirty="0">
                          <a:solidFill>
                            <a:srgbClr val="F0A1A0"/>
                          </a:solidFill>
                        </a:rPr>
                        <a:t>+</a:t>
                      </a:r>
                      <a:r>
                        <a:rPr lang="en-US" sz="1200" b="1" baseline="0" dirty="0">
                          <a:solidFill>
                            <a:srgbClr val="F0A1A0"/>
                          </a:solidFill>
                        </a:rPr>
                        <a:t>7.58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517656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5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4998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Net gain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rgbClr val="8CC1EB"/>
                          </a:solidFill>
                        </a:rPr>
                        <a:t>+2.69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75668098"/>
                  </a:ext>
                </a:extLst>
              </a:tr>
              <a:tr h="31971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3386694"/>
                  </a:ext>
                </a:extLst>
              </a:tr>
            </a:tbl>
          </a:graphicData>
        </a:graphic>
      </p:graphicFrame>
      <p:sp>
        <p:nvSpPr>
          <p:cNvPr id="52" name="TextBox 51">
            <a:extLst>
              <a:ext uri="{FF2B5EF4-FFF2-40B4-BE49-F238E27FC236}">
                <a16:creationId xmlns:a16="http://schemas.microsoft.com/office/drawing/2014/main" id="{3904BDF6-946C-C3E8-7412-058DDA9DA0BE}"/>
              </a:ext>
            </a:extLst>
          </p:cNvPr>
          <p:cNvSpPr txBox="1"/>
          <p:nvPr/>
        </p:nvSpPr>
        <p:spPr>
          <a:xfrm>
            <a:off x="977976" y="169534"/>
            <a:ext cx="64909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cap="all" dirty="0"/>
              <a:t>Effect of New Maps Enacted Since the 2024 Election</a:t>
            </a:r>
          </a:p>
          <a:p>
            <a:pPr algn="r"/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Prof. Jonathan Cervas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E2E2BE-BA84-DCD0-38E0-BC2415E759C3}"/>
              </a:ext>
            </a:extLst>
          </p:cNvPr>
          <p:cNvSpPr txBox="1"/>
          <p:nvPr/>
        </p:nvSpPr>
        <p:spPr>
          <a:xfrm rot="1823142">
            <a:off x="4965336" y="-3806558"/>
            <a:ext cx="6593600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600" b="1" dirty="0">
                <a:solidFill>
                  <a:schemeClr val="tx1">
                    <a:alpha val="49000"/>
                  </a:schemeClr>
                </a:solidFill>
              </a:rPr>
              <a:t>DRAFT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403200C-7CDA-1DE7-1C37-E6C63BC235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9032" y="6006280"/>
            <a:ext cx="3076474" cy="269191"/>
          </a:xfrm>
          <a:prstGeom prst="rect">
            <a:avLst/>
          </a:prstGeom>
        </p:spPr>
      </p:pic>
      <p:grpSp>
        <p:nvGrpSpPr>
          <p:cNvPr id="53" name="Group 52">
            <a:extLst>
              <a:ext uri="{FF2B5EF4-FFF2-40B4-BE49-F238E27FC236}">
                <a16:creationId xmlns:a16="http://schemas.microsoft.com/office/drawing/2014/main" id="{C4724675-6C2C-005E-B3DC-DAA6DCBA69B0}"/>
              </a:ext>
            </a:extLst>
          </p:cNvPr>
          <p:cNvGrpSpPr/>
          <p:nvPr/>
        </p:nvGrpSpPr>
        <p:grpSpPr>
          <a:xfrm>
            <a:off x="2092960" y="765178"/>
            <a:ext cx="8382849" cy="4951497"/>
            <a:chOff x="904240" y="915670"/>
            <a:chExt cx="8382849" cy="4951497"/>
          </a:xfrm>
        </p:grpSpPr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73DD9F47-0E7A-AFCD-8A25-A5981D7D995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904240" y="915670"/>
              <a:ext cx="7620000" cy="47625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767394F-E056-B396-1D3E-EA97E7FAAD2B}"/>
                </a:ext>
              </a:extLst>
            </p:cNvPr>
            <p:cNvSpPr txBox="1"/>
            <p:nvPr/>
          </p:nvSpPr>
          <p:spPr>
            <a:xfrm>
              <a:off x="5730642" y="5152250"/>
              <a:ext cx="1120188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dirty="0"/>
                <a:t>Court ordered, pending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E2E81FB-AA4A-CA19-03D9-27BF78A04BD7}"/>
                </a:ext>
              </a:extLst>
            </p:cNvPr>
            <p:cNvSpPr txBox="1"/>
            <p:nvPr/>
          </p:nvSpPr>
          <p:spPr>
            <a:xfrm>
              <a:off x="2940167" y="2503394"/>
              <a:ext cx="7040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baseline="30000" dirty="0">
                  <a:solidFill>
                    <a:srgbClr val="8CC1EB"/>
                  </a:solidFill>
                  <a:latin typeface="Aptos Display" panose="020B0004020202020204" pitchFamily="34" charset="0"/>
                </a:rPr>
                <a:t>+</a:t>
              </a:r>
              <a:r>
                <a:rPr lang="en-US" b="1" dirty="0">
                  <a:solidFill>
                    <a:srgbClr val="8CC1EB"/>
                  </a:solidFill>
                  <a:latin typeface="Aptos Display" panose="020B0004020202020204" pitchFamily="34" charset="0"/>
                </a:rPr>
                <a:t>0.94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9770910-D57B-2238-FBBF-137216D6FFD6}"/>
                </a:ext>
              </a:extLst>
            </p:cNvPr>
            <p:cNvSpPr txBox="1"/>
            <p:nvPr/>
          </p:nvSpPr>
          <p:spPr>
            <a:xfrm>
              <a:off x="1476192" y="2579221"/>
              <a:ext cx="7040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baseline="30000" dirty="0">
                  <a:solidFill>
                    <a:srgbClr val="8CC1EB"/>
                  </a:solidFill>
                  <a:latin typeface="Aptos Display" panose="020B0004020202020204" pitchFamily="34" charset="0"/>
                </a:rPr>
                <a:t>+</a:t>
              </a:r>
              <a:r>
                <a:rPr lang="en-US" b="1" dirty="0">
                  <a:solidFill>
                    <a:srgbClr val="8CC1EB"/>
                  </a:solidFill>
                  <a:latin typeface="Aptos Display" panose="020B0004020202020204" pitchFamily="34" charset="0"/>
                </a:rPr>
                <a:t>6.25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5EE4C14-56D1-0A04-ACD9-638CBE02B454}"/>
                </a:ext>
              </a:extLst>
            </p:cNvPr>
            <p:cNvSpPr txBox="1"/>
            <p:nvPr/>
          </p:nvSpPr>
          <p:spPr>
            <a:xfrm>
              <a:off x="7672031" y="3003881"/>
              <a:ext cx="7040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baseline="30000" dirty="0">
                  <a:solidFill>
                    <a:srgbClr val="8CC1EB"/>
                  </a:solidFill>
                  <a:latin typeface="Aptos Display" panose="020B0004020202020204" pitchFamily="34" charset="0"/>
                </a:rPr>
                <a:t>+</a:t>
              </a:r>
              <a:r>
                <a:rPr lang="en-US" b="1" dirty="0">
                  <a:solidFill>
                    <a:srgbClr val="8CC1EB"/>
                  </a:solidFill>
                  <a:latin typeface="Aptos Display" panose="020B0004020202020204" pitchFamily="34" charset="0"/>
                </a:rPr>
                <a:t>3.08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3C7C840-889E-FD26-05BC-867A0B6ADBB3}"/>
                </a:ext>
              </a:extLst>
            </p:cNvPr>
            <p:cNvSpPr txBox="1"/>
            <p:nvPr/>
          </p:nvSpPr>
          <p:spPr>
            <a:xfrm>
              <a:off x="5438042" y="2824874"/>
              <a:ext cx="7040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baseline="30000" dirty="0">
                  <a:solidFill>
                    <a:srgbClr val="F0A1A0"/>
                  </a:solidFill>
                  <a:latin typeface="Aptos Display" panose="020B0004020202020204" pitchFamily="34" charset="0"/>
                </a:rPr>
                <a:t>+</a:t>
              </a:r>
              <a:r>
                <a:rPr lang="en-US" b="1" dirty="0">
                  <a:solidFill>
                    <a:srgbClr val="F0A1A0"/>
                  </a:solidFill>
                  <a:latin typeface="Aptos Display" panose="020B0004020202020204" pitchFamily="34" charset="0"/>
                </a:rPr>
                <a:t>0.89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A1B32AF-4F1B-A759-131E-9C628A3452A5}"/>
                </a:ext>
              </a:extLst>
            </p:cNvPr>
            <p:cNvSpPr txBox="1"/>
            <p:nvPr/>
          </p:nvSpPr>
          <p:spPr>
            <a:xfrm>
              <a:off x="4223474" y="3657202"/>
              <a:ext cx="7040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baseline="30000" dirty="0">
                  <a:solidFill>
                    <a:srgbClr val="F0BFBE"/>
                  </a:solidFill>
                  <a:latin typeface="Aptos Display" panose="020B0004020202020204" pitchFamily="34" charset="0"/>
                </a:rPr>
                <a:t>+</a:t>
              </a:r>
              <a:r>
                <a:rPr lang="en-US" b="1" dirty="0">
                  <a:solidFill>
                    <a:srgbClr val="F0A1A0"/>
                  </a:solidFill>
                  <a:latin typeface="Aptos Display" panose="020B0004020202020204" pitchFamily="34" charset="0"/>
                </a:rPr>
                <a:t>3.29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FF44F00-1B6C-AEA9-5A3E-545C42B4A30A}"/>
                </a:ext>
              </a:extLst>
            </p:cNvPr>
            <p:cNvSpPr txBox="1"/>
            <p:nvPr/>
          </p:nvSpPr>
          <p:spPr>
            <a:xfrm>
              <a:off x="6860904" y="2482128"/>
              <a:ext cx="7489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baseline="30000" dirty="0">
                  <a:solidFill>
                    <a:srgbClr val="F0A1A0"/>
                  </a:solidFill>
                  <a:latin typeface="Aptos Display" panose="020B0004020202020204" pitchFamily="34" charset="0"/>
                </a:rPr>
                <a:t>+</a:t>
              </a:r>
              <a:r>
                <a:rPr lang="en-US" b="1" dirty="0">
                  <a:solidFill>
                    <a:srgbClr val="F0A1A0"/>
                  </a:solidFill>
                  <a:latin typeface="Aptos Display" panose="020B0004020202020204" pitchFamily="34" charset="0"/>
                </a:rPr>
                <a:t>0. 65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AFDEEA4-A5EF-2044-96E4-F9B325D53B50}"/>
                </a:ext>
              </a:extLst>
            </p:cNvPr>
            <p:cNvSpPr txBox="1"/>
            <p:nvPr/>
          </p:nvSpPr>
          <p:spPr>
            <a:xfrm>
              <a:off x="7708111" y="3468766"/>
              <a:ext cx="7040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baseline="30000" dirty="0">
                  <a:solidFill>
                    <a:srgbClr val="F0A1A0"/>
                  </a:solidFill>
                  <a:latin typeface="Aptos Display" panose="020B0004020202020204" pitchFamily="34" charset="0"/>
                </a:rPr>
                <a:t>+</a:t>
              </a:r>
              <a:r>
                <a:rPr lang="en-US" b="1" dirty="0">
                  <a:solidFill>
                    <a:srgbClr val="F0A1A0"/>
                  </a:solidFill>
                  <a:latin typeface="Aptos Display" panose="020B0004020202020204" pitchFamily="34" charset="0"/>
                </a:rPr>
                <a:t>0.52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8C68397-32D2-7D53-D5D2-7974377FFF42}"/>
                </a:ext>
              </a:extLst>
            </p:cNvPr>
            <p:cNvSpPr txBox="1"/>
            <p:nvPr/>
          </p:nvSpPr>
          <p:spPr>
            <a:xfrm>
              <a:off x="7154347" y="4604060"/>
              <a:ext cx="7040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baseline="30000" dirty="0">
                  <a:solidFill>
                    <a:srgbClr val="F0A1A0"/>
                  </a:solidFill>
                  <a:latin typeface="Aptos Display" panose="020B0004020202020204" pitchFamily="34" charset="0"/>
                </a:rPr>
                <a:t>+</a:t>
              </a:r>
              <a:r>
                <a:rPr lang="en-US" b="1" dirty="0">
                  <a:solidFill>
                    <a:srgbClr val="F0A1A0"/>
                  </a:solidFill>
                  <a:latin typeface="Aptos Display" panose="020B0004020202020204" pitchFamily="34" charset="0"/>
                </a:rPr>
                <a:t>2.23</a:t>
              </a:r>
            </a:p>
          </p:txBody>
        </p:sp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E57F2C4B-7FAC-94E2-3B7B-53D971961267}"/>
                </a:ext>
              </a:extLst>
            </p:cNvPr>
            <p:cNvSpPr/>
            <p:nvPr/>
          </p:nvSpPr>
          <p:spPr>
            <a:xfrm rot="11065677">
              <a:off x="5430890" y="4758875"/>
              <a:ext cx="731520" cy="521589"/>
            </a:xfrm>
            <a:prstGeom prst="arc">
              <a:avLst/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Arc 10">
              <a:extLst>
                <a:ext uri="{FF2B5EF4-FFF2-40B4-BE49-F238E27FC236}">
                  <a16:creationId xmlns:a16="http://schemas.microsoft.com/office/drawing/2014/main" id="{18A2D22E-7D5E-CF0E-28B1-36F78BCEB8BB}"/>
                </a:ext>
              </a:extLst>
            </p:cNvPr>
            <p:cNvSpPr/>
            <p:nvPr/>
          </p:nvSpPr>
          <p:spPr>
            <a:xfrm>
              <a:off x="7119670" y="5217615"/>
              <a:ext cx="731520" cy="521589"/>
            </a:xfrm>
            <a:prstGeom prst="arc">
              <a:avLst/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0016DE3-8DBD-ADAD-A1E2-8E4A57B8C424}"/>
                </a:ext>
              </a:extLst>
            </p:cNvPr>
            <p:cNvSpPr txBox="1"/>
            <p:nvPr/>
          </p:nvSpPr>
          <p:spPr>
            <a:xfrm>
              <a:off x="7365147" y="5436280"/>
              <a:ext cx="849218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1100" dirty="0"/>
                <a:t>Passed legislature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C018138-6F2F-E7C9-BBA5-F376330F683C}"/>
                </a:ext>
              </a:extLst>
            </p:cNvPr>
            <p:cNvSpPr txBox="1"/>
            <p:nvPr/>
          </p:nvSpPr>
          <p:spPr>
            <a:xfrm>
              <a:off x="6846595" y="2694069"/>
              <a:ext cx="748923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(</a:t>
              </a:r>
              <a:r>
                <a:rPr lang="en-US" sz="1100" b="1" baseline="30000" dirty="0">
                  <a:latin typeface="Aptos Display" panose="020B0004020202020204" pitchFamily="34" charset="0"/>
                </a:rPr>
                <a:t>-</a:t>
              </a:r>
              <a:r>
                <a:rPr lang="en-US" sz="1100" b="1" dirty="0">
                  <a:latin typeface="Aptos Display" panose="020B0004020202020204" pitchFamily="34" charset="0"/>
                </a:rPr>
                <a:t>1-</a:t>
              </a:r>
              <a:r>
                <a:rPr lang="en-US" sz="1100" b="1" baseline="30000" dirty="0">
                  <a:latin typeface="Aptos Display" panose="020B0004020202020204" pitchFamily="34" charset="0"/>
                </a:rPr>
                <a:t>+</a:t>
              </a:r>
              <a:r>
                <a:rPr lang="en-US" sz="1100" b="1" dirty="0">
                  <a:latin typeface="Aptos Display" panose="020B0004020202020204" pitchFamily="34" charset="0"/>
                </a:rPr>
                <a:t>2)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839A5B5-1870-EF0E-2E7C-43B1EF9A79FD}"/>
                </a:ext>
              </a:extLst>
            </p:cNvPr>
            <p:cNvSpPr txBox="1"/>
            <p:nvPr/>
          </p:nvSpPr>
          <p:spPr>
            <a:xfrm>
              <a:off x="5529010" y="3070790"/>
              <a:ext cx="588378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(0-</a:t>
              </a:r>
              <a:r>
                <a:rPr lang="en-US" sz="1100" b="1" baseline="30000" dirty="0">
                  <a:latin typeface="Aptos Display" panose="020B0004020202020204" pitchFamily="34" charset="0"/>
                </a:rPr>
                <a:t>+</a:t>
              </a:r>
              <a:r>
                <a:rPr lang="en-US" sz="1100" b="1" dirty="0">
                  <a:latin typeface="Aptos Display" panose="020B0004020202020204" pitchFamily="34" charset="0"/>
                </a:rPr>
                <a:t>1)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239F380-BB31-29FD-159F-94B18CEC61AC}"/>
                </a:ext>
              </a:extLst>
            </p:cNvPr>
            <p:cNvSpPr txBox="1"/>
            <p:nvPr/>
          </p:nvSpPr>
          <p:spPr>
            <a:xfrm>
              <a:off x="7744894" y="3223567"/>
              <a:ext cx="588378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(</a:t>
              </a:r>
              <a:r>
                <a:rPr lang="en-US" sz="1100" b="1" baseline="30000" dirty="0">
                  <a:latin typeface="Aptos Display" panose="020B0004020202020204" pitchFamily="34" charset="0"/>
                </a:rPr>
                <a:t>+</a:t>
              </a:r>
              <a:r>
                <a:rPr lang="en-US" sz="1100" b="1" dirty="0">
                  <a:latin typeface="Aptos Display" panose="020B0004020202020204" pitchFamily="34" charset="0"/>
                </a:rPr>
                <a:t>2-</a:t>
              </a:r>
              <a:r>
                <a:rPr lang="en-US" sz="1100" b="1" baseline="30000" dirty="0">
                  <a:latin typeface="Aptos Display" panose="020B0004020202020204" pitchFamily="34" charset="0"/>
                </a:rPr>
                <a:t>+</a:t>
              </a:r>
              <a:r>
                <a:rPr lang="en-US" sz="1100" b="1" dirty="0">
                  <a:latin typeface="Aptos Display" panose="020B0004020202020204" pitchFamily="34" charset="0"/>
                </a:rPr>
                <a:t>4)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6FA0F06-C893-0F0C-B6EC-EEF1783210D4}"/>
                </a:ext>
              </a:extLst>
            </p:cNvPr>
            <p:cNvSpPr txBox="1"/>
            <p:nvPr/>
          </p:nvSpPr>
          <p:spPr>
            <a:xfrm>
              <a:off x="7809679" y="3695592"/>
              <a:ext cx="588378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(</a:t>
              </a:r>
              <a:r>
                <a:rPr lang="en-US" sz="1100" b="1" baseline="30000" dirty="0">
                  <a:latin typeface="Aptos Display" panose="020B0004020202020204" pitchFamily="34" charset="0"/>
                </a:rPr>
                <a:t>-</a:t>
              </a:r>
              <a:r>
                <a:rPr lang="en-US" sz="1100" b="1" dirty="0">
                  <a:latin typeface="Aptos Display" panose="020B0004020202020204" pitchFamily="34" charset="0"/>
                </a:rPr>
                <a:t>1-</a:t>
              </a:r>
              <a:r>
                <a:rPr lang="en-US" sz="1100" b="1" baseline="30000" dirty="0">
                  <a:latin typeface="Aptos Display" panose="020B0004020202020204" pitchFamily="34" charset="0"/>
                </a:rPr>
                <a:t>+</a:t>
              </a:r>
              <a:r>
                <a:rPr lang="en-US" sz="1100" b="1" dirty="0">
                  <a:latin typeface="Aptos Display" panose="020B0004020202020204" pitchFamily="34" charset="0"/>
                </a:rPr>
                <a:t>1)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F2726AD-B0A8-4CA6-22B7-86E3A71040F1}"/>
                </a:ext>
              </a:extLst>
            </p:cNvPr>
            <p:cNvSpPr txBox="1"/>
            <p:nvPr/>
          </p:nvSpPr>
          <p:spPr>
            <a:xfrm>
              <a:off x="7225099" y="4830865"/>
              <a:ext cx="588378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(</a:t>
              </a:r>
              <a:r>
                <a:rPr lang="en-US" sz="1100" b="1" baseline="30000" dirty="0">
                  <a:latin typeface="Aptos Display" panose="020B0004020202020204" pitchFamily="34" charset="0"/>
                </a:rPr>
                <a:t>+</a:t>
              </a:r>
              <a:r>
                <a:rPr lang="en-US" sz="1100" b="1" dirty="0">
                  <a:latin typeface="Aptos Display" panose="020B0004020202020204" pitchFamily="34" charset="0"/>
                </a:rPr>
                <a:t>1-</a:t>
              </a:r>
              <a:r>
                <a:rPr lang="en-US" sz="1100" b="1" baseline="30000" dirty="0">
                  <a:latin typeface="Aptos Display" panose="020B0004020202020204" pitchFamily="34" charset="0"/>
                </a:rPr>
                <a:t>+</a:t>
              </a:r>
              <a:r>
                <a:rPr lang="en-US" sz="1100" b="1" dirty="0">
                  <a:latin typeface="Aptos Display" panose="020B0004020202020204" pitchFamily="34" charset="0"/>
                </a:rPr>
                <a:t>4)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67EE30E-8EEE-207E-100B-A1CA5EA0C22F}"/>
                </a:ext>
              </a:extLst>
            </p:cNvPr>
            <p:cNvSpPr txBox="1"/>
            <p:nvPr/>
          </p:nvSpPr>
          <p:spPr>
            <a:xfrm>
              <a:off x="4280573" y="3863902"/>
              <a:ext cx="588378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(</a:t>
              </a:r>
              <a:r>
                <a:rPr lang="en-US" sz="1100" b="1" baseline="30000" dirty="0">
                  <a:latin typeface="Aptos Display" panose="020B0004020202020204" pitchFamily="34" charset="0"/>
                </a:rPr>
                <a:t>+</a:t>
              </a:r>
              <a:r>
                <a:rPr lang="en-US" sz="1100" b="1" dirty="0">
                  <a:latin typeface="Aptos Display" panose="020B0004020202020204" pitchFamily="34" charset="0"/>
                </a:rPr>
                <a:t>2-</a:t>
              </a:r>
              <a:r>
                <a:rPr lang="en-US" sz="1100" b="1" baseline="30000" dirty="0">
                  <a:latin typeface="Aptos Display" panose="020B0004020202020204" pitchFamily="34" charset="0"/>
                </a:rPr>
                <a:t>+</a:t>
              </a:r>
              <a:r>
                <a:rPr lang="en-US" sz="1100" b="1" dirty="0">
                  <a:latin typeface="Aptos Display" panose="020B0004020202020204" pitchFamily="34" charset="0"/>
                </a:rPr>
                <a:t>5)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590B225-6437-E097-D2CA-5D1A8AE86AC1}"/>
                </a:ext>
              </a:extLst>
            </p:cNvPr>
            <p:cNvSpPr txBox="1"/>
            <p:nvPr/>
          </p:nvSpPr>
          <p:spPr>
            <a:xfrm>
              <a:off x="3001663" y="2736954"/>
              <a:ext cx="588378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(0-</a:t>
              </a:r>
              <a:r>
                <a:rPr lang="en-US" sz="1100" b="1" baseline="30000" dirty="0">
                  <a:latin typeface="Aptos Display" panose="020B0004020202020204" pitchFamily="34" charset="0"/>
                </a:rPr>
                <a:t>+</a:t>
              </a:r>
              <a:r>
                <a:rPr lang="en-US" sz="1100" b="1" dirty="0">
                  <a:latin typeface="Aptos Display" panose="020B0004020202020204" pitchFamily="34" charset="0"/>
                </a:rPr>
                <a:t>1)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F3B7817-2036-3C19-45D5-3190E389B433}"/>
                </a:ext>
              </a:extLst>
            </p:cNvPr>
            <p:cNvSpPr txBox="1"/>
            <p:nvPr/>
          </p:nvSpPr>
          <p:spPr>
            <a:xfrm>
              <a:off x="1538292" y="2803902"/>
              <a:ext cx="588378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b="1" dirty="0">
                  <a:latin typeface="Aptos Display" panose="020B0004020202020204" pitchFamily="34" charset="0"/>
                </a:rPr>
                <a:t>(</a:t>
              </a:r>
              <a:r>
                <a:rPr lang="en-US" sz="1100" b="1" baseline="30000" dirty="0">
                  <a:latin typeface="Aptos Display" panose="020B0004020202020204" pitchFamily="34" charset="0"/>
                </a:rPr>
                <a:t>+</a:t>
              </a:r>
              <a:r>
                <a:rPr lang="en-US" sz="1100" b="1" dirty="0">
                  <a:latin typeface="Aptos Display" panose="020B0004020202020204" pitchFamily="34" charset="0"/>
                </a:rPr>
                <a:t>3-</a:t>
              </a:r>
              <a:r>
                <a:rPr lang="en-US" sz="1100" b="1" baseline="30000" dirty="0">
                  <a:latin typeface="Aptos Display" panose="020B0004020202020204" pitchFamily="34" charset="0"/>
                </a:rPr>
                <a:t>+</a:t>
              </a:r>
              <a:r>
                <a:rPr lang="en-US" sz="1100" b="1" dirty="0">
                  <a:latin typeface="Aptos Display" panose="020B0004020202020204" pitchFamily="34" charset="0"/>
                </a:rPr>
                <a:t>9)</a:t>
              </a:r>
            </a:p>
          </p:txBody>
        </p:sp>
        <p:sp>
          <p:nvSpPr>
            <p:cNvPr id="33" name="Arc 32">
              <a:extLst>
                <a:ext uri="{FF2B5EF4-FFF2-40B4-BE49-F238E27FC236}">
                  <a16:creationId xmlns:a16="http://schemas.microsoft.com/office/drawing/2014/main" id="{E0A0410C-8974-D6C4-71F4-64234ECB3541}"/>
                </a:ext>
              </a:extLst>
            </p:cNvPr>
            <p:cNvSpPr/>
            <p:nvPr/>
          </p:nvSpPr>
          <p:spPr>
            <a:xfrm rot="15189131" flipH="1">
              <a:off x="7124813" y="3673873"/>
              <a:ext cx="731520" cy="521589"/>
            </a:xfrm>
            <a:prstGeom prst="arc">
              <a:avLst/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C3EE147-5027-5D7F-58BB-32C21CEBF6EF}"/>
                </a:ext>
              </a:extLst>
            </p:cNvPr>
            <p:cNvSpPr txBox="1"/>
            <p:nvPr/>
          </p:nvSpPr>
          <p:spPr>
            <a:xfrm>
              <a:off x="7546003" y="4052755"/>
              <a:ext cx="1741086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dirty="0"/>
                <a:t>Four states have proposed changing map after </a:t>
              </a:r>
              <a:r>
                <a:rPr lang="en-US" sz="1100" i="1" dirty="0"/>
                <a:t>Callias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2693761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10006</TotalTime>
  <Words>152</Words>
  <Application>Microsoft Macintosh PowerPoint</Application>
  <PresentationFormat>Widescreen</PresentationFormat>
  <Paragraphs>30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Cervas</dc:creator>
  <cp:lastModifiedBy>Jonathan Cervas</cp:lastModifiedBy>
  <cp:revision>59</cp:revision>
  <dcterms:created xsi:type="dcterms:W3CDTF">2026-04-24T19:19:03Z</dcterms:created>
  <dcterms:modified xsi:type="dcterms:W3CDTF">2026-05-01T18:41:37Z</dcterms:modified>
</cp:coreProperties>
</file>