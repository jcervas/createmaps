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AC4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35"/>
  </p:normalViewPr>
  <p:slideViewPr>
    <p:cSldViewPr snapToGrid="0">
      <p:cViewPr varScale="1">
        <p:scale>
          <a:sx n="156" d="100"/>
          <a:sy n="156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C73CA-20D1-784B-AC34-FB4995825A11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89039-1250-204E-91E9-1B45E447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4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89039-1250-204E-91E9-1B45E447D6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3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B0AF-9155-875E-E017-F0DE1D0D7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50007-7B85-09D4-CEF2-3F3E097CD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A9D21-07BC-0B28-FB64-49E49711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B7E9B-5163-815D-8971-907EF6C4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358D-5808-1C7F-7AC7-3827E0A7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6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EB1C-1FF8-353D-C6E0-7DF463A5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59115-CCB0-20BC-D07E-21FBFABA6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4C0D6-703C-2971-7774-365D1A1D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D36D6-69DC-32EF-A8DF-7CEDB920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8B80-4F4D-CAF5-D3AE-243F88A2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3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A62C-064A-3744-57E1-05EF3640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0CB08-1B40-6BE9-6B97-1684F67FE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1DE57-FC4B-CA50-11AB-F317B8B8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6407-6F07-845F-AC8C-A84C40E5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EF6C-641E-D047-AB21-3DBA4D9B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5474-8752-2C7A-F672-14837A80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41D3B-C410-618D-4B25-E38B969A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76045-30ED-531C-5B63-750905907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AF709-A789-ABD7-3080-877427DB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F811B-CF03-E8C8-A397-656D1378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0C0E4-EA1C-8E47-A4B4-AAABD874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5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CFE0-D1CE-014E-3FE4-12CD6811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9F108-0670-A403-A91A-F3A1C298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93F1A-F127-A712-E881-3EE4F7E3E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7EFD3-4D65-BF58-9EE3-064C2028F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69AFF-D73E-7ED4-2573-07D6E5A34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6D66B-C096-6835-DFC2-FED02806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82FA1-175B-44AE-9D87-F2F016E93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62466-C35B-2A41-DEA1-52422C57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0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9D9B-BAA3-E397-A000-1113D678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D9AC3-256D-5854-21FB-7A5039DB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A802A-7FBF-48E3-9B9B-4CB2160B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BAEF3-2A3B-0A8B-FA09-F86E76B0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6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997080-9A04-2FB3-E04D-8C80AAAE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9A4B7-02D8-59F0-AB4D-13C16ACC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3E235-723B-9872-6584-34E6F74B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002D-168A-EBF6-EDAC-CAB3C6FE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DFC4-C253-C920-1439-F6BF777C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643B0-AA75-F373-A7CC-63C5ABCDA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BCE94-F00B-CF00-BEF4-D513A2A8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0DBC3-2307-6259-DCF2-3919FB3C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FB4F0-9AC4-E784-4054-23CCAECE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4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A9E4-A426-CD5E-0790-9338B9D9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DC20D-7E49-A372-E752-5F47F080A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AF70C-3975-A970-232D-C247D7E8C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64F46-EEEF-DD00-705E-F874B02B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A7FC5-542B-DB27-89B9-4C8597B2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4E7BA-0F54-31D8-98A2-753B15E4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5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DAEF-2BF1-9B8A-61F8-540BB7E4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0A63E-DE6E-2B71-401C-D9E509A81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55E3-7E65-4ACF-FC72-7414E826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949F9-99C6-4362-853F-E2CFB62C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60DA5-A5BE-2F48-BC62-C579C450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4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EB1334-2131-13D7-8BFE-7999EBB7F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3A468-D5CF-E44C-2297-D851DFD18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31620-9049-5548-58AE-3F6DB3D2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9FF1-23FB-4749-929A-235DB3E49A18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52668-F81F-9492-B24A-DD48E360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17402-72B6-29C8-30B0-D898DD8E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2363-8FF6-4447-BD7F-4626AD91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8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F2D1A-A82F-5445-F16A-BDBF3902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AC978-C860-9444-6A43-AD3B3D05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1A39-F20A-1676-75E3-4F42F0253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Source Sans 3" panose="020B0303030403020204" pitchFamily="34" charset="0"/>
              </a:defRPr>
            </a:lvl1pPr>
          </a:lstStyle>
          <a:p>
            <a:fld id="{AAC69FF1-23FB-4749-929A-235DB3E49A18}" type="datetimeFigureOut">
              <a:rPr lang="en-US" smtClean="0"/>
              <a:pPr/>
              <a:t>6/8/26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76EE3-9C42-5BF7-A986-A0745A492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Source Sans 3" panose="020B03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9460B-F694-D96E-FE73-35B589DE3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Source Sans 3" panose="020B0303030403020204" pitchFamily="34" charset="0"/>
              </a:defRPr>
            </a:lvl1pPr>
          </a:lstStyle>
          <a:p>
            <a:fld id="{BE9C2363-8FF6-4447-BD7F-4626AD91B6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99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295969F-6D14-2C4D-3936-325BDA230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61866" y="1219200"/>
            <a:ext cx="3522131" cy="220133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B9F47CC-96C5-A82A-88AA-8C23C8E4D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34933" y="1219200"/>
            <a:ext cx="3522131" cy="220133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C6573C1-4A39-1BA9-CDB6-A0270F8D0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000" y="1219200"/>
            <a:ext cx="3522132" cy="2201332"/>
          </a:xfrm>
          <a:prstGeom prst="rect">
            <a:avLst/>
          </a:prstGeom>
        </p:spPr>
      </p:pic>
      <p:sp>
        <p:nvSpPr>
          <p:cNvPr id="1001" name="c1001"/>
          <p:cNvSpPr/>
          <p:nvPr/>
        </p:nvSpPr>
        <p:spPr>
          <a:xfrm>
            <a:off x="508000" y="3644900"/>
            <a:ext cx="3522129" cy="24003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lang="en-US" sz="1600" dirty="0">
                <a:solidFill>
                  <a:srgbClr val="2A4B8D"/>
                </a:solidFill>
                <a:latin typeface="Source Sans 3" panose="020B0303030403020204" pitchFamily="34" charset="0"/>
              </a:rPr>
              <a:t>Harris</a:t>
            </a:r>
          </a:p>
          <a:p>
            <a:pPr algn="ctr">
              <a:spcAft>
                <a:spcPts val="1400"/>
              </a:spcAft>
            </a:pPr>
            <a:r>
              <a:rPr lang="en-US" sz="3600" dirty="0">
                <a:solidFill>
                  <a:srgbClr val="2A4B8D"/>
                </a:solidFill>
                <a:latin typeface="Source Sans 3" panose="020B0303030403020204" pitchFamily="34" charset="0"/>
              </a:rPr>
              <a:t>207</a:t>
            </a:r>
          </a:p>
          <a:p>
            <a:pPr algn="ctr">
              <a:spcAft>
                <a:spcPts val="600"/>
              </a:spcAft>
            </a:pPr>
            <a:r>
              <a:rPr lang="en-US" sz="1600" dirty="0">
                <a:solidFill>
                  <a:srgbClr val="B23A2E"/>
                </a:solidFill>
                <a:latin typeface="Source Sans 3" panose="020B0303030403020204" pitchFamily="34" charset="0"/>
              </a:rPr>
              <a:t>Trump</a:t>
            </a:r>
          </a:p>
          <a:p>
            <a:pPr algn="ctr"/>
            <a:r>
              <a:rPr lang="en-US" sz="3600" dirty="0">
                <a:solidFill>
                  <a:srgbClr val="B23A2E"/>
                </a:solidFill>
                <a:latin typeface="Source Sans 3" panose="020B0303030403020204" pitchFamily="34" charset="0"/>
              </a:rPr>
              <a:t>228</a:t>
            </a:r>
          </a:p>
        </p:txBody>
      </p:sp>
      <p:sp>
        <p:nvSpPr>
          <p:cNvPr id="1002" name="c1002"/>
          <p:cNvSpPr/>
          <p:nvPr/>
        </p:nvSpPr>
        <p:spPr>
          <a:xfrm>
            <a:off x="4334929" y="3644900"/>
            <a:ext cx="3522129" cy="24003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lang="en-US" sz="1600" dirty="0">
                <a:solidFill>
                  <a:srgbClr val="2A4B8D"/>
                </a:solidFill>
                <a:latin typeface="Source Sans 3" panose="020B0303030403020204" pitchFamily="34" charset="0"/>
              </a:rPr>
              <a:t>Harris</a:t>
            </a:r>
          </a:p>
          <a:p>
            <a:pPr algn="ctr">
              <a:spcAft>
                <a:spcPts val="1400"/>
              </a:spcAft>
            </a:pPr>
            <a:r>
              <a:rPr lang="en-US" sz="3600" dirty="0">
                <a:solidFill>
                  <a:srgbClr val="2A4B8D"/>
                </a:solidFill>
                <a:latin typeface="Source Sans 3" panose="020B0303030403020204" pitchFamily="34" charset="0"/>
              </a:rPr>
              <a:t>205</a:t>
            </a:r>
          </a:p>
          <a:p>
            <a:pPr algn="ctr">
              <a:spcAft>
                <a:spcPts val="600"/>
              </a:spcAft>
            </a:pPr>
            <a:r>
              <a:rPr lang="en-US" sz="1600" dirty="0">
                <a:solidFill>
                  <a:srgbClr val="B23A2E"/>
                </a:solidFill>
                <a:latin typeface="Source Sans 3" panose="020B0303030403020204" pitchFamily="34" charset="0"/>
              </a:rPr>
              <a:t>Trump</a:t>
            </a:r>
          </a:p>
          <a:p>
            <a:pPr algn="ctr"/>
            <a:r>
              <a:rPr lang="en-US" sz="3600" dirty="0">
                <a:solidFill>
                  <a:srgbClr val="B23A2E"/>
                </a:solidFill>
                <a:latin typeface="Source Sans 3" panose="020B0303030403020204" pitchFamily="34" charset="0"/>
              </a:rPr>
              <a:t>230</a:t>
            </a:r>
          </a:p>
        </p:txBody>
      </p:sp>
      <p:sp>
        <p:nvSpPr>
          <p:cNvPr id="1003" name="c1003"/>
          <p:cNvSpPr/>
          <p:nvPr/>
        </p:nvSpPr>
        <p:spPr>
          <a:xfrm>
            <a:off x="8161858" y="3644900"/>
            <a:ext cx="3522129" cy="24003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lang="en-US" sz="1600" dirty="0">
                <a:solidFill>
                  <a:srgbClr val="2A4B8D"/>
                </a:solidFill>
                <a:latin typeface="Source Sans 3" panose="020B0303030403020204" pitchFamily="34" charset="0"/>
              </a:rPr>
              <a:t>Harris</a:t>
            </a:r>
          </a:p>
          <a:p>
            <a:pPr algn="ctr">
              <a:spcAft>
                <a:spcPts val="1400"/>
              </a:spcAft>
            </a:pPr>
            <a:r>
              <a:rPr lang="en-US" sz="3600" dirty="0">
                <a:solidFill>
                  <a:srgbClr val="2A4B8D"/>
                </a:solidFill>
                <a:latin typeface="Source Sans 3" panose="020B0303030403020204" pitchFamily="34" charset="0"/>
              </a:rPr>
              <a:t>200</a:t>
            </a:r>
          </a:p>
          <a:p>
            <a:pPr algn="ctr">
              <a:spcAft>
                <a:spcPts val="600"/>
              </a:spcAft>
            </a:pPr>
            <a:r>
              <a:rPr lang="en-US" sz="1600" dirty="0">
                <a:solidFill>
                  <a:srgbClr val="B23A2E"/>
                </a:solidFill>
                <a:latin typeface="Source Sans 3" panose="020B0303030403020204" pitchFamily="34" charset="0"/>
              </a:rPr>
              <a:t>Trump</a:t>
            </a:r>
          </a:p>
          <a:p>
            <a:pPr algn="ctr"/>
            <a:r>
              <a:rPr lang="en-US" sz="3600" dirty="0">
                <a:solidFill>
                  <a:srgbClr val="B23A2E"/>
                </a:solidFill>
                <a:latin typeface="Source Sans 3" panose="020B0303030403020204" pitchFamily="34" charset="0"/>
              </a:rPr>
              <a:t>235</a:t>
            </a:r>
          </a:p>
        </p:txBody>
      </p:sp>
      <p:sp>
        <p:nvSpPr>
          <p:cNvPr id="1300" name="t1300"/>
          <p:cNvSpPr/>
          <p:nvPr/>
        </p:nvSpPr>
        <p:spPr>
          <a:xfrm>
            <a:off x="508000" y="76200"/>
            <a:ext cx="11176000" cy="736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endParaRPr lang="en-US" sz="3000" b="1" cap="all" dirty="0">
              <a:solidFill>
                <a:srgbClr val="1A2238"/>
              </a:solidFill>
              <a:latin typeface="Source Serif 4 Black" panose="02040603050405020204" pitchFamily="18" charset="0"/>
              <a:ea typeface="Source Serif 4 Black" panose="02040603050405020204" pitchFamily="18" charset="0"/>
            </a:endParaRPr>
          </a:p>
        </p:txBody>
      </p:sp>
      <p:sp>
        <p:nvSpPr>
          <p:cNvPr id="1401" name="y1401"/>
          <p:cNvSpPr/>
          <p:nvPr/>
        </p:nvSpPr>
        <p:spPr>
          <a:xfrm>
            <a:off x="508000" y="914400"/>
            <a:ext cx="3522129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1A2238"/>
                </a:solidFill>
                <a:latin typeface="Source Sans 3" panose="020B0303030403020204" pitchFamily="34" charset="0"/>
              </a:rPr>
              <a:t>2022</a:t>
            </a:r>
          </a:p>
        </p:txBody>
      </p:sp>
      <p:sp>
        <p:nvSpPr>
          <p:cNvPr id="1402" name="y1402"/>
          <p:cNvSpPr/>
          <p:nvPr/>
        </p:nvSpPr>
        <p:spPr>
          <a:xfrm>
            <a:off x="4334929" y="914400"/>
            <a:ext cx="3522129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1A2238"/>
                </a:solidFill>
                <a:latin typeface="Source Sans 3" panose="020B0303030403020204" pitchFamily="34" charset="0"/>
              </a:rPr>
              <a:t>2024</a:t>
            </a:r>
          </a:p>
        </p:txBody>
      </p:sp>
      <p:sp>
        <p:nvSpPr>
          <p:cNvPr id="1403" name="y1403"/>
          <p:cNvSpPr/>
          <p:nvPr/>
        </p:nvSpPr>
        <p:spPr>
          <a:xfrm>
            <a:off x="8161858" y="914400"/>
            <a:ext cx="3522129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1A2238"/>
                </a:solidFill>
                <a:latin typeface="Source Sans 3" panose="020B0303030403020204" pitchFamily="34" charset="0"/>
              </a:rPr>
              <a:t>2026</a:t>
            </a:r>
          </a:p>
        </p:txBody>
      </p:sp>
      <p:sp>
        <p:nvSpPr>
          <p:cNvPr id="2" name="sourcenote">
            <a:extLst>
              <a:ext uri="{FF2B5EF4-FFF2-40B4-BE49-F238E27FC236}">
                <a16:creationId xmlns:a16="http://schemas.microsoft.com/office/drawing/2014/main" id="{434FCD26-1696-7947-8BE4-3276EB050288}"/>
              </a:ext>
            </a:extLst>
          </p:cNvPr>
          <p:cNvSpPr txBox="1"/>
          <p:nvPr/>
        </p:nvSpPr>
        <p:spPr>
          <a:xfrm>
            <a:off x="508000" y="6173969"/>
            <a:ext cx="7444014" cy="27699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 dirty="0">
                <a:solidFill>
                  <a:srgbClr val="5A5A5A"/>
                </a:solidFill>
                <a:latin typeface="Source Sans 3" panose="020B0303030403020204" pitchFamily="34" charset="0"/>
              </a:rPr>
              <a:t>Source: Jonathan Cervas, Dave’s Redistricting App, VEST, and The Downballot. Data is 2024 Presidential Election.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6F7F1-9C2D-63F6-F116-96262AEA31A6}"/>
              </a:ext>
            </a:extLst>
          </p:cNvPr>
          <p:cNvSpPr txBox="1"/>
          <p:nvPr/>
        </p:nvSpPr>
        <p:spPr>
          <a:xfrm>
            <a:off x="8987910" y="111035"/>
            <a:ext cx="2874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Source Serif 4 SemiBold" panose="02040603050405020204" pitchFamily="18" charset="0"/>
                <a:ea typeface="Source Serif 4 SemiBold" panose="02040603050405020204" pitchFamily="18" charset="0"/>
              </a:rPr>
              <a:t>The Redistrict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B5A55-87EF-1846-AEFF-68C7B0F5F0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169" t="53824" r="757" b="44423"/>
          <a:stretch>
            <a:fillRect/>
          </a:stretch>
        </p:blipFill>
        <p:spPr>
          <a:xfrm>
            <a:off x="0" y="6567957"/>
            <a:ext cx="12192000" cy="290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E82EA-85F2-D109-7943-532A4980D8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6926" y="6197166"/>
            <a:ext cx="3076474" cy="269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571F44-8466-DDB7-FD63-BF14EBC9C04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34929" y="275273"/>
            <a:ext cx="2886203" cy="396145"/>
          </a:xfrm>
          <a:prstGeom prst="rect">
            <a:avLst/>
          </a:prstGeom>
        </p:spPr>
      </p:pic>
      <p:sp>
        <p:nvSpPr>
          <p:cNvPr id="11" name="Arc 10">
            <a:extLst>
              <a:ext uri="{FF2B5EF4-FFF2-40B4-BE49-F238E27FC236}">
                <a16:creationId xmlns:a16="http://schemas.microsoft.com/office/drawing/2014/main" id="{E3E64B10-449E-1664-0F06-92276B72841F}"/>
              </a:ext>
            </a:extLst>
          </p:cNvPr>
          <p:cNvSpPr/>
          <p:nvPr/>
        </p:nvSpPr>
        <p:spPr>
          <a:xfrm>
            <a:off x="6734432" y="1329898"/>
            <a:ext cx="584311" cy="567069"/>
          </a:xfrm>
          <a:prstGeom prst="arc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BFCDA-F653-9424-D096-335792B8AB16}"/>
              </a:ext>
            </a:extLst>
          </p:cNvPr>
          <p:cNvSpPr txBox="1"/>
          <p:nvPr/>
        </p:nvSpPr>
        <p:spPr>
          <a:xfrm>
            <a:off x="6031215" y="1188995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Source Sans 3 Medium" panose="020B0303030403020204" pitchFamily="34" charset="0"/>
              </a:rPr>
              <a:t>Lines redrawn</a:t>
            </a:r>
          </a:p>
        </p:txBody>
      </p:sp>
    </p:spTree>
    <p:extLst>
      <p:ext uri="{BB962C8B-B14F-4D97-AF65-F5344CB8AC3E}">
        <p14:creationId xmlns:p14="http://schemas.microsoft.com/office/powerpoint/2010/main" val="2493413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436B5C-E836-1649-A252-5CDEEB29462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271f3720-3db1-438e-9e74-04385bcf090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42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Source Sans 3</vt:lpstr>
      <vt:lpstr>Source Sans 3 ExtraLight</vt:lpstr>
      <vt:lpstr>Source Sans 3 Medium</vt:lpstr>
      <vt:lpstr>Source Serif 4 Black</vt:lpstr>
      <vt:lpstr>Source Serif 4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Cervas</dc:creator>
  <cp:lastModifiedBy>Jonathan Cervas</cp:lastModifiedBy>
  <cp:revision>8</cp:revision>
  <dcterms:created xsi:type="dcterms:W3CDTF">2026-06-08T15:08:39Z</dcterms:created>
  <dcterms:modified xsi:type="dcterms:W3CDTF">2026-06-08T18:44:15Z</dcterms:modified>
</cp:coreProperties>
</file>