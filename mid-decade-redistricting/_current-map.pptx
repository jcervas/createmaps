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BFBE"/>
    <a:srgbClr val="B3D3EC"/>
    <a:srgbClr val="F9D382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69" t="53824" r="757" b="44423"/>
          <a:stretch>
            <a:fillRect/>
          </a:stretch>
        </p:blipFill>
        <p:spPr>
          <a:xfrm>
            <a:off x="-31898" y="6270128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35146" y="6560738"/>
            <a:ext cx="92316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Note: Outlined states redistricted due to court order. Litigation pending in Louisiana. Data: VEST, Dave’s Redistricting. 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14B4539B-6F19-0A3C-4E51-CA191CAF6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2483" y="6300735"/>
            <a:ext cx="2615184" cy="228828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286000" y="1047750"/>
            <a:ext cx="7620000" cy="47625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4321927" y="263547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B3D3EC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770910-D57B-2238-FBBF-137216D6FFD6}"/>
              </a:ext>
            </a:extLst>
          </p:cNvPr>
          <p:cNvSpPr txBox="1"/>
          <p:nvPr/>
        </p:nvSpPr>
        <p:spPr>
          <a:xfrm>
            <a:off x="2857952" y="2711301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B3D3EC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9062483" y="319759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B3D3EC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B3D3EC"/>
                </a:solidFill>
                <a:latin typeface="Aptos Display" panose="020B0004020202020204" pitchFamily="34" charset="0"/>
              </a:rPr>
              <a:t>3.16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C7C840-889E-FD26-05BC-867A0B6ADBB3}"/>
              </a:ext>
            </a:extLst>
          </p:cNvPr>
          <p:cNvSpPr txBox="1"/>
          <p:nvPr/>
        </p:nvSpPr>
        <p:spPr>
          <a:xfrm>
            <a:off x="6789322" y="295695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0.89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32AF-4F1B-A759-131E-9C628A3452A5}"/>
              </a:ext>
            </a:extLst>
          </p:cNvPr>
          <p:cNvSpPr txBox="1"/>
          <p:nvPr/>
        </p:nvSpPr>
        <p:spPr>
          <a:xfrm>
            <a:off x="5605234" y="389088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F44F00-1B6C-AEA9-5A3E-545C42B4A30A}"/>
              </a:ext>
            </a:extLst>
          </p:cNvPr>
          <p:cNvSpPr txBox="1"/>
          <p:nvPr/>
        </p:nvSpPr>
        <p:spPr>
          <a:xfrm>
            <a:off x="8242664" y="261420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0.38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9008457" y="3752736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BFBE"/>
                </a:solidFill>
                <a:latin typeface="Aptos Display" panose="020B0004020202020204" pitchFamily="34" charset="0"/>
              </a:rPr>
              <a:t>0.45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C68397-32D2-7D53-D5D2-7974377FFF42}"/>
              </a:ext>
            </a:extLst>
          </p:cNvPr>
          <p:cNvSpPr txBox="1"/>
          <p:nvPr/>
        </p:nvSpPr>
        <p:spPr>
          <a:xfrm>
            <a:off x="8627749" y="49193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ln>
                  <a:solidFill>
                    <a:srgbClr val="F0BFBE"/>
                  </a:solidFill>
                </a:ln>
                <a:pattFill prst="dkUpDiag">
                  <a:fgClr>
                    <a:srgbClr val="DDDDDD"/>
                  </a:fgClr>
                  <a:bgClr>
                    <a:srgbClr val="F0BFBE"/>
                  </a:bgClr>
                </a:patt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B7C13B-7D37-AF74-22B2-851DB5C358B6}"/>
              </a:ext>
            </a:extLst>
          </p:cNvPr>
          <p:cNvSpPr txBox="1"/>
          <p:nvPr/>
        </p:nvSpPr>
        <p:spPr>
          <a:xfrm>
            <a:off x="2468725" y="403206"/>
            <a:ext cx="3787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cap="all" dirty="0"/>
              <a:t>Redistricting War Scorecard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632821"/>
              </p:ext>
            </p:extLst>
          </p:nvPr>
        </p:nvGraphicFramePr>
        <p:xfrm>
          <a:off x="9712496" y="3991592"/>
          <a:ext cx="1849247" cy="1737362"/>
        </p:xfrm>
        <a:graphic>
          <a:graphicData uri="http://schemas.openxmlformats.org/drawingml/2006/table">
            <a:tbl>
              <a:tblPr firstRow="1" bandRow="1"/>
              <a:tblGrid>
                <a:gridCol w="1200661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648586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31971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dirty="0"/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B3D3EC"/>
                          </a:solidFill>
                        </a:rPr>
                        <a:t>+</a:t>
                      </a:r>
                      <a:r>
                        <a:rPr lang="en-US" sz="1600" b="1" dirty="0">
                          <a:solidFill>
                            <a:srgbClr val="B3D3EC"/>
                          </a:solidFill>
                        </a:rPr>
                        <a:t>10.35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dirty="0"/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baseline="30000" dirty="0">
                          <a:solidFill>
                            <a:srgbClr val="F0BFBE"/>
                          </a:solidFill>
                        </a:rPr>
                        <a:t>+</a:t>
                      </a:r>
                      <a:r>
                        <a:rPr lang="en-US" sz="1600" b="1" dirty="0">
                          <a:solidFill>
                            <a:srgbClr val="F0BFBE"/>
                          </a:solidFill>
                        </a:rPr>
                        <a:t>5.01</a:t>
                      </a:r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138812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b="1" cap="small" baseline="0" dirty="0"/>
                        <a:t>Pending</a:t>
                      </a:r>
                      <a:r>
                        <a:rPr lang="en-US" sz="1600" dirty="0"/>
                        <a:t>: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dirty="0"/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baseline="30000" dirty="0">
                          <a:solidFill>
                            <a:srgbClr val="F0BFBE"/>
                          </a:solidFill>
                        </a:rPr>
                        <a:t>+</a:t>
                      </a:r>
                      <a:r>
                        <a:rPr lang="en-US" sz="1600" b="1" dirty="0">
                          <a:ln>
                            <a:solidFill>
                              <a:srgbClr val="F0BFBE"/>
                            </a:solidFill>
                          </a:ln>
                          <a:pattFill prst="dkUpDiag">
                            <a:fgClr>
                              <a:srgbClr val="DDDDDD"/>
                            </a:fgClr>
                            <a:bgClr>
                              <a:srgbClr val="F0BFBE"/>
                            </a:bgClr>
                          </a:pattFill>
                          <a:latin typeface="Aptos Display" panose="020B0004020202020204" pitchFamily="34" charset="0"/>
                        </a:rPr>
                        <a:t>2.23</a:t>
                      </a:r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2468725" y="711376"/>
            <a:ext cx="54695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Effect of New Maps Enacted After the 2024 Election</a:t>
            </a:r>
          </a:p>
          <a:p>
            <a:pPr algn="r"/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Prof. Jonathan Cervas</a:t>
            </a: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5817</TotalTime>
  <Words>66</Words>
  <Application>Microsoft Macintosh PowerPoint</Application>
  <PresentationFormat>Widescreen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23</cp:revision>
  <dcterms:created xsi:type="dcterms:W3CDTF">2026-04-24T19:19:03Z</dcterms:created>
  <dcterms:modified xsi:type="dcterms:W3CDTF">2026-04-28T20:18:48Z</dcterms:modified>
</cp:coreProperties>
</file>