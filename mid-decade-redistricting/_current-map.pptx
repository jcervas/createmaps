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C1EB"/>
    <a:srgbClr val="F0A1A0"/>
    <a:srgbClr val="F0BFBE"/>
    <a:srgbClr val="B3D3EC"/>
    <a:srgbClr val="F9D382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7"/>
    <p:restoredTop sz="94635"/>
  </p:normalViewPr>
  <p:slideViewPr>
    <p:cSldViewPr snapToGrid="0">
      <p:cViewPr varScale="1">
        <p:scale>
          <a:sx n="159" d="100"/>
          <a:sy n="159" d="100"/>
        </p:scale>
        <p:origin x="20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37">
            <a:extLst>
              <a:ext uri="{FF2B5EF4-FFF2-40B4-BE49-F238E27FC236}">
                <a16:creationId xmlns:a16="http://schemas.microsoft.com/office/drawing/2014/main" id="{73DD9F47-0E7A-AFCD-8A25-A5981D7D9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92960" y="765178"/>
            <a:ext cx="7620000" cy="47625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19F39E3-88A0-0447-1356-D35CE9047E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169" t="53824" r="757" b="44423"/>
          <a:stretch>
            <a:fillRect/>
          </a:stretch>
        </p:blipFill>
        <p:spPr>
          <a:xfrm>
            <a:off x="-83501" y="6565076"/>
            <a:ext cx="12275501" cy="290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1131AC4-2358-72EA-184F-E6A5D20B57D5}"/>
              </a:ext>
            </a:extLst>
          </p:cNvPr>
          <p:cNvSpPr txBox="1"/>
          <p:nvPr/>
        </p:nvSpPr>
        <p:spPr>
          <a:xfrm>
            <a:off x="1023221" y="5840794"/>
            <a:ext cx="73889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Note: Utah redrawn after court order. Ohio redraw as required by statute. Louisiana map struck down as a racial gerrymander (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LA v. Callias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). Mississippi, Alabama, and South Carolina have taken steps to prepare new maps after 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Callais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. Data: Dave’s Redistricting, VEST.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35C1EA9B-79EA-BA58-C1AE-0139F81C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0348203"/>
              </p:ext>
            </p:extLst>
          </p:nvPr>
        </p:nvGraphicFramePr>
        <p:xfrm>
          <a:off x="10176305" y="4203173"/>
          <a:ext cx="1775664" cy="1477620"/>
        </p:xfrm>
        <a:graphic>
          <a:graphicData uri="http://schemas.openxmlformats.org/drawingml/2006/table">
            <a:tbl>
              <a:tblPr firstRow="1" bandRow="1"/>
              <a:tblGrid>
                <a:gridCol w="1090231">
                  <a:extLst>
                    <a:ext uri="{9D8B030D-6E8A-4147-A177-3AD203B41FA5}">
                      <a16:colId xmlns:a16="http://schemas.microsoft.com/office/drawing/2014/main" val="2899711490"/>
                    </a:ext>
                  </a:extLst>
                </a:gridCol>
                <a:gridCol w="685433">
                  <a:extLst>
                    <a:ext uri="{9D8B030D-6E8A-4147-A177-3AD203B41FA5}">
                      <a16:colId xmlns:a16="http://schemas.microsoft.com/office/drawing/2014/main" val="1116278752"/>
                    </a:ext>
                  </a:extLst>
                </a:gridCol>
              </a:tblGrid>
              <a:tr h="136016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0592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Democrat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8CC1EB"/>
                          </a:solidFill>
                        </a:rPr>
                        <a:t>+</a:t>
                      </a:r>
                      <a:r>
                        <a:rPr lang="en-US" sz="1600" b="1" dirty="0">
                          <a:solidFill>
                            <a:srgbClr val="8CC1EB"/>
                          </a:solidFill>
                        </a:rPr>
                        <a:t>7.19</a:t>
                      </a:r>
                      <a:endParaRPr lang="en-US" sz="1600" b="1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081810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600" b="1" dirty="0"/>
                        <a:t>Republican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9.58</a:t>
                      </a:r>
                      <a:endParaRPr 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5176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54998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Net gain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baseline="3000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2</a:t>
                      </a:r>
                      <a:r>
                        <a:rPr lang="en-US" sz="1600" b="1">
                          <a:solidFill>
                            <a:srgbClr val="F0A1A0"/>
                          </a:solidFill>
                        </a:rPr>
                        <a:t>.39</a:t>
                      </a:r>
                      <a:endParaRPr lang="en-US" sz="1600" b="1" dirty="0">
                        <a:solidFill>
                          <a:srgbClr val="F0A1A0"/>
                        </a:solidFill>
                      </a:endParaRP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5668098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3386694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3904BDF6-946C-C3E8-7412-058DDA9DA0BE}"/>
              </a:ext>
            </a:extLst>
          </p:cNvPr>
          <p:cNvSpPr txBox="1"/>
          <p:nvPr/>
        </p:nvSpPr>
        <p:spPr>
          <a:xfrm>
            <a:off x="977976" y="169534"/>
            <a:ext cx="64909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cap="all" dirty="0"/>
              <a:t>Effect of New Maps Enacted Since the 2024 Election</a:t>
            </a:r>
          </a:p>
          <a:p>
            <a:pPr algn="r"/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Prof. Jonathan Cervas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2E2BE-BA84-DCD0-38E0-BC2415E759C3}"/>
              </a:ext>
            </a:extLst>
          </p:cNvPr>
          <p:cNvSpPr txBox="1"/>
          <p:nvPr/>
        </p:nvSpPr>
        <p:spPr>
          <a:xfrm rot="1823142">
            <a:off x="4965336" y="-3806558"/>
            <a:ext cx="6593600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dirty="0">
                <a:solidFill>
                  <a:schemeClr val="tx1">
                    <a:alpha val="49000"/>
                  </a:schemeClr>
                </a:solidFill>
              </a:rPr>
              <a:t>DRAFT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403200C-7CDA-1DE7-1C37-E6C63BC23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9032" y="6006280"/>
            <a:ext cx="3076474" cy="2691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67394F-E056-B396-1D3E-EA97E7FAAD2B}"/>
              </a:ext>
            </a:extLst>
          </p:cNvPr>
          <p:cNvSpPr txBox="1"/>
          <p:nvPr/>
        </p:nvSpPr>
        <p:spPr>
          <a:xfrm>
            <a:off x="6919361" y="5001758"/>
            <a:ext cx="12365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Ruled unconstitutional </a:t>
            </a:r>
            <a:r>
              <a:rPr lang="en-US" sz="1100" i="1" dirty="0"/>
              <a:t>(Callais</a:t>
            </a:r>
            <a:r>
              <a:rPr lang="en-US" sz="1100" dirty="0"/>
              <a:t>)</a:t>
            </a:r>
            <a:r>
              <a:rPr lang="en-US" sz="1100" i="1" dirty="0"/>
              <a:t>,</a:t>
            </a:r>
            <a:r>
              <a:rPr lang="en-US" sz="1100" dirty="0"/>
              <a:t> redraw pending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2E81FB-AA4A-CA19-03D9-27BF78A04BD7}"/>
              </a:ext>
            </a:extLst>
          </p:cNvPr>
          <p:cNvSpPr txBox="1"/>
          <p:nvPr/>
        </p:nvSpPr>
        <p:spPr>
          <a:xfrm>
            <a:off x="4128887" y="235290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0.94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770910-D57B-2238-FBBF-137216D6FFD6}"/>
              </a:ext>
            </a:extLst>
          </p:cNvPr>
          <p:cNvSpPr txBox="1"/>
          <p:nvPr/>
        </p:nvSpPr>
        <p:spPr>
          <a:xfrm>
            <a:off x="2664912" y="242872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6.25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EE4C14-56D1-0A04-ACD9-638CBE02B454}"/>
              </a:ext>
            </a:extLst>
          </p:cNvPr>
          <p:cNvSpPr txBox="1"/>
          <p:nvPr/>
        </p:nvSpPr>
        <p:spPr>
          <a:xfrm>
            <a:off x="8860751" y="285338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strike="sngStrike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strike="sngStrike" dirty="0">
                <a:solidFill>
                  <a:srgbClr val="8CC1EB"/>
                </a:solidFill>
                <a:latin typeface="Aptos Display" panose="020B0004020202020204" pitchFamily="34" charset="0"/>
              </a:rPr>
              <a:t>3.08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C7C840-889E-FD26-05BC-867A0B6ADBB3}"/>
              </a:ext>
            </a:extLst>
          </p:cNvPr>
          <p:cNvSpPr txBox="1"/>
          <p:nvPr/>
        </p:nvSpPr>
        <p:spPr>
          <a:xfrm>
            <a:off x="5527878" y="283358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1B32AF-4F1B-A759-131E-9C628A3452A5}"/>
              </a:ext>
            </a:extLst>
          </p:cNvPr>
          <p:cNvSpPr txBox="1"/>
          <p:nvPr/>
        </p:nvSpPr>
        <p:spPr>
          <a:xfrm>
            <a:off x="5412194" y="350671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3.29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F44F00-1B6C-AEA9-5A3E-545C42B4A30A}"/>
              </a:ext>
            </a:extLst>
          </p:cNvPr>
          <p:cNvSpPr txBox="1"/>
          <p:nvPr/>
        </p:nvSpPr>
        <p:spPr>
          <a:xfrm>
            <a:off x="7388642" y="198357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0.65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DEEA4-A5EF-2044-96E4-F9B325D53B50}"/>
              </a:ext>
            </a:extLst>
          </p:cNvPr>
          <p:cNvSpPr txBox="1"/>
          <p:nvPr/>
        </p:nvSpPr>
        <p:spPr>
          <a:xfrm>
            <a:off x="8896831" y="331827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C68397-32D2-7D53-D5D2-7974377FFF42}"/>
              </a:ext>
            </a:extLst>
          </p:cNvPr>
          <p:cNvSpPr txBox="1"/>
          <p:nvPr/>
        </p:nvSpPr>
        <p:spPr>
          <a:xfrm>
            <a:off x="8343067" y="445356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2.23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E57F2C4B-7FAC-94E2-3B7B-53D971961267}"/>
              </a:ext>
            </a:extLst>
          </p:cNvPr>
          <p:cNvSpPr/>
          <p:nvPr/>
        </p:nvSpPr>
        <p:spPr>
          <a:xfrm rot="11065677">
            <a:off x="6619610" y="4608383"/>
            <a:ext cx="731520" cy="521589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018138-6F2F-E7C9-BBA5-F376330F683C}"/>
              </a:ext>
            </a:extLst>
          </p:cNvPr>
          <p:cNvSpPr txBox="1"/>
          <p:nvPr/>
        </p:nvSpPr>
        <p:spPr>
          <a:xfrm>
            <a:off x="7351891" y="2195511"/>
            <a:ext cx="7489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39A5B5-1870-EF0E-2E7C-43B1EF9A79FD}"/>
              </a:ext>
            </a:extLst>
          </p:cNvPr>
          <p:cNvSpPr txBox="1"/>
          <p:nvPr/>
        </p:nvSpPr>
        <p:spPr>
          <a:xfrm>
            <a:off x="5634888" y="3055441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9F380-BB31-29FD-159F-94B18CEC61AC}"/>
              </a:ext>
            </a:extLst>
          </p:cNvPr>
          <p:cNvSpPr txBox="1"/>
          <p:nvPr/>
        </p:nvSpPr>
        <p:spPr>
          <a:xfrm>
            <a:off x="8933614" y="3073075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strike="sngStrike" dirty="0">
                <a:latin typeface="Aptos Display" panose="020B0004020202020204" pitchFamily="34" charset="0"/>
              </a:rPr>
              <a:t>(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2-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FA0F06-C893-0F0C-B6EC-EEF1783210D4}"/>
              </a:ext>
            </a:extLst>
          </p:cNvPr>
          <p:cNvSpPr txBox="1"/>
          <p:nvPr/>
        </p:nvSpPr>
        <p:spPr>
          <a:xfrm>
            <a:off x="8998399" y="354510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2726AD-B0A8-4CA6-22B7-86E3A71040F1}"/>
              </a:ext>
            </a:extLst>
          </p:cNvPr>
          <p:cNvSpPr txBox="1"/>
          <p:nvPr/>
        </p:nvSpPr>
        <p:spPr>
          <a:xfrm>
            <a:off x="8413819" y="4680373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7EE30E-8EEE-207E-100B-A1CA5EA0C22F}"/>
              </a:ext>
            </a:extLst>
          </p:cNvPr>
          <p:cNvSpPr txBox="1"/>
          <p:nvPr/>
        </p:nvSpPr>
        <p:spPr>
          <a:xfrm>
            <a:off x="5469293" y="371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5)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90B225-6437-E097-D2CA-5D1A8AE86AC1}"/>
              </a:ext>
            </a:extLst>
          </p:cNvPr>
          <p:cNvSpPr txBox="1"/>
          <p:nvPr/>
        </p:nvSpPr>
        <p:spPr>
          <a:xfrm>
            <a:off x="4190383" y="2586462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3B7817-2036-3C19-45D5-3190E389B433}"/>
              </a:ext>
            </a:extLst>
          </p:cNvPr>
          <p:cNvSpPr txBox="1"/>
          <p:nvPr/>
        </p:nvSpPr>
        <p:spPr>
          <a:xfrm>
            <a:off x="2727012" y="265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3-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9)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784CCC-FA38-391A-F196-EC025FD75294}"/>
              </a:ext>
            </a:extLst>
          </p:cNvPr>
          <p:cNvSpPr txBox="1"/>
          <p:nvPr/>
        </p:nvSpPr>
        <p:spPr>
          <a:xfrm>
            <a:off x="9947602" y="2902776"/>
            <a:ext cx="197784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Three additional states have taken steps to change their maps after </a:t>
            </a:r>
            <a:r>
              <a:rPr lang="en-US" sz="1100" i="1" dirty="0"/>
              <a:t>Callais</a:t>
            </a:r>
            <a:endParaRPr lang="en-US" sz="1100" dirty="0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820236E8-953D-7322-8974-0B9E3FBFCC47}"/>
              </a:ext>
            </a:extLst>
          </p:cNvPr>
          <p:cNvSpPr/>
          <p:nvPr/>
        </p:nvSpPr>
        <p:spPr>
          <a:xfrm>
            <a:off x="8092681" y="3829964"/>
            <a:ext cx="731520" cy="521589"/>
          </a:xfrm>
          <a:prstGeom prst="arc">
            <a:avLst>
              <a:gd name="adj1" fmla="val 16200000"/>
              <a:gd name="adj2" fmla="val 20682646"/>
            </a:avLst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805BD-1FE5-5397-8287-E638AFFDEC36}"/>
              </a:ext>
            </a:extLst>
          </p:cNvPr>
          <p:cNvSpPr txBox="1"/>
          <p:nvPr/>
        </p:nvSpPr>
        <p:spPr>
          <a:xfrm>
            <a:off x="8893137" y="137527"/>
            <a:ext cx="2688264" cy="1542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u="none" strike="noStrike" dirty="0">
                <a:solidFill>
                  <a:srgbClr val="0F1419"/>
                </a:solidFill>
                <a:effectLst/>
                <a:latin typeface="Source Serif Pro Semibold" panose="02040603050405020204" pitchFamily="18" charset="0"/>
                <a:ea typeface="Source Serif Pro Semibold" panose="02040603050405020204" pitchFamily="18" charset="0"/>
              </a:rPr>
              <a:t>The Redistrict Network</a:t>
            </a:r>
            <a:endParaRPr lang="en-US" b="1" dirty="0">
              <a:latin typeface="Source Serif Pro Semibold" panose="02040603050405020204" pitchFamily="18" charset="0"/>
              <a:ea typeface="Source Serif Pro Semibold" panose="0204060305040502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C79CA9-5287-CE7D-8025-745B824C6148}"/>
              </a:ext>
            </a:extLst>
          </p:cNvPr>
          <p:cNvSpPr txBox="1"/>
          <p:nvPr/>
        </p:nvSpPr>
        <p:spPr>
          <a:xfrm>
            <a:off x="6387931" y="3596908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C99E4-89E4-5027-DCB6-E85AD5F648C1}"/>
              </a:ext>
            </a:extLst>
          </p:cNvPr>
          <p:cNvSpPr txBox="1"/>
          <p:nvPr/>
        </p:nvSpPr>
        <p:spPr>
          <a:xfrm>
            <a:off x="6339450" y="3818761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237DE36E-E0BF-B2AF-44F9-4441DF7F8C0D}"/>
              </a:ext>
            </a:extLst>
          </p:cNvPr>
          <p:cNvSpPr/>
          <p:nvPr/>
        </p:nvSpPr>
        <p:spPr>
          <a:xfrm flipH="1">
            <a:off x="6735114" y="3610580"/>
            <a:ext cx="635060" cy="252573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3581-20AB-404A-1F22-BAF620003FAF}"/>
              </a:ext>
            </a:extLst>
          </p:cNvPr>
          <p:cNvSpPr txBox="1"/>
          <p:nvPr/>
        </p:nvSpPr>
        <p:spPr>
          <a:xfrm>
            <a:off x="9970169" y="409407"/>
            <a:ext cx="15408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Updated May 10,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FFF9DE-43DE-094F-DFDE-8DCC7A607129}"/>
              </a:ext>
            </a:extLst>
          </p:cNvPr>
          <p:cNvSpPr txBox="1"/>
          <p:nvPr/>
        </p:nvSpPr>
        <p:spPr>
          <a:xfrm>
            <a:off x="8677832" y="3952631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D9A65A-E81E-1F09-DF06-284E91E790FC}"/>
              </a:ext>
            </a:extLst>
          </p:cNvPr>
          <p:cNvSpPr txBox="1"/>
          <p:nvPr/>
        </p:nvSpPr>
        <p:spPr>
          <a:xfrm>
            <a:off x="8598948" y="4171859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10258</TotalTime>
  <Words>171</Words>
  <Application>Microsoft Macintosh PowerPoint</Application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Source Serif Pro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78</cp:revision>
  <dcterms:created xsi:type="dcterms:W3CDTF">2026-04-24T19:19:03Z</dcterms:created>
  <dcterms:modified xsi:type="dcterms:W3CDTF">2026-05-11T18:07:47Z</dcterms:modified>
</cp:coreProperties>
</file>