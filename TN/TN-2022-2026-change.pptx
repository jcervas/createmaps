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"/>
  </p:notesMasterIdLst>
  <p:sldIdLst>
    <p:sldId id="256" r:id="rId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3887"/>
    <p:restoredTop sz="94726"/>
  </p:normalViewPr>
  <p:slideViewPr>
    <p:cSldViewPr snapToGrid="0">
      <p:cViewPr varScale="1">
        <p:scale>
          <a:sx n="120" d="100"/>
          <a:sy n="120" d="100"/>
        </p:scale>
        <p:origin x="904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DCA9576-471A-484F-ACFB-2E7CC0D1D788}" type="datetimeFigureOut">
              <a:rPr lang="en-US" smtClean="0"/>
              <a:t>5/6/26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9789869-6F7A-BA41-9A17-1CE7B6F9706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8001237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9789869-6F7A-BA41-9A17-1CE7B6F97068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7501925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02E9CB-54CB-31D3-B641-4A338D5310F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081014E-9A03-61D3-51CB-0A2D19EF8A5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7F82C05-721B-C982-12A9-9BBACCA91F3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ED41C1-AEE7-2C40-93FD-63DB12F1EB88}" type="datetimeFigureOut">
              <a:rPr lang="en-US" smtClean="0"/>
              <a:t>5/6/26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ADBD0BC-FD32-B19B-7B86-4E6FF81AC1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C06A32A-7E9E-3F7B-2796-BA40A2EEEB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C40379-4363-8D42-A9C0-4645E2AABAE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7453049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2AC86D-B7BD-BECA-9747-B45E0E7837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2E0904D-0F62-2CD8-C04D-DD5F2010FCA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3D0C73B-178E-27BB-2B91-40DFD5F7250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ED41C1-AEE7-2C40-93FD-63DB12F1EB88}" type="datetimeFigureOut">
              <a:rPr lang="en-US" smtClean="0"/>
              <a:t>5/6/26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DCBD7D0-51BA-E896-9E35-6FC9E81C60C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31AD8BE-569E-B782-3C5A-55F41E2FD3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C40379-4363-8D42-A9C0-4645E2AABAE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895646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4F01928-CDA8-C6AC-C6FA-2AB193DD1B5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6E173DB-94B9-A385-32D1-373DA3438E5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3A04824-6D8E-59FC-0B17-62405C6689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ED41C1-AEE7-2C40-93FD-63DB12F1EB88}" type="datetimeFigureOut">
              <a:rPr lang="en-US" smtClean="0"/>
              <a:t>5/6/26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6043101-CB72-B711-338A-1519D5A49B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36DB9F7-2A55-3EB3-1B1E-ADE414EA7C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C40379-4363-8D42-A9C0-4645E2AABAE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1958208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6248F8-F85E-96D6-B92B-A657B6101C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4FB8426-EF00-18E7-0749-69B0D7D8A17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8118A4D-1F9B-6EA9-57D3-FC16E1F42B6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DAAE4CD-7337-3719-9FC2-B14966736B6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ED41C1-AEE7-2C40-93FD-63DB12F1EB88}" type="datetimeFigureOut">
              <a:rPr lang="en-US" smtClean="0"/>
              <a:t>5/6/26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93C642A-6DED-8A49-02C6-2191A9D492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D977ACC-0703-7457-7577-A40846C368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C40379-4363-8D42-A9C0-4645E2AABAE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7521107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4FEDC0-3E5D-F9F5-6CD3-F4A0A60565F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0F5F071-4BFF-6F6C-2C79-BEAF105D18E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EF78330-D721-8EE3-D962-5C5ABD87295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304DA1A-8486-6835-3187-B53AB75B929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4E9FDECC-3E27-650F-5995-FB35D2A7434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5D246F40-8AA8-10D7-45CB-39F02B312F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ED41C1-AEE7-2C40-93FD-63DB12F1EB88}" type="datetimeFigureOut">
              <a:rPr lang="en-US" smtClean="0"/>
              <a:t>5/6/26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96DF4AE-20BA-1E57-04ED-5B1EEC59D8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1ABC0633-7DB0-7DE2-8D51-339A099E0E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C40379-4363-8D42-A9C0-4645E2AABAE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8335277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77D67B-C3B6-CC2D-27C5-4F68BF1FEC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7AE62EB-2B10-E1A3-4D07-C4E3C8B2158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ED41C1-AEE7-2C40-93FD-63DB12F1EB88}" type="datetimeFigureOut">
              <a:rPr lang="en-US" smtClean="0"/>
              <a:t>5/6/26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D693A53-E8A0-C852-1229-9D9C3D58B45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7FC17F4-B099-B9C0-81AE-2D73574DA6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C40379-4363-8D42-A9C0-4645E2AABAE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7068058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76060EE7-6E15-DB44-1BA5-53B5D22175F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ED41C1-AEE7-2C40-93FD-63DB12F1EB88}" type="datetimeFigureOut">
              <a:rPr lang="en-US" smtClean="0"/>
              <a:t>5/6/26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B8E0267B-368D-152A-46A3-3DA02D076F3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969FCF7-070D-1699-BC64-4E8BB4A869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C40379-4363-8D42-A9C0-4645E2AABAE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7629324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00A84F-93F8-1F63-3E67-85623AFCDE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217D165-7038-F181-9E3E-548780A7847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0271781-EAC8-C85A-D755-F38F65D49EB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7EB6224-260A-0D6B-D8A2-65355EADB6A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ED41C1-AEE7-2C40-93FD-63DB12F1EB88}" type="datetimeFigureOut">
              <a:rPr lang="en-US" smtClean="0"/>
              <a:t>5/6/26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B3B6907-68F3-BA88-E1E7-4E3B78AEE9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6AB776B-4DEE-E628-D872-1324D2D4CC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C40379-4363-8D42-A9C0-4645E2AABAE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2821807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CDABE7-0DA8-CCCD-F231-EEAA590A821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D009EB50-856A-A9F9-63CB-C2E94ADFF90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D2ACBC0-371B-2BE8-0E43-F45772F6957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ACD3EA4-D32F-EFDC-B0AB-ED6F784017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ED41C1-AEE7-2C40-93FD-63DB12F1EB88}" type="datetimeFigureOut">
              <a:rPr lang="en-US" smtClean="0"/>
              <a:t>5/6/26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4805DEB-DDF4-81E7-0172-F0E2F438DCF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D71E2B9-6FC3-2357-086F-394B46A80C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C40379-4363-8D42-A9C0-4645E2AABAE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039906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0B9FF9-4AC4-A2CA-5C7D-7E6835B8BF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3265655-C631-C59A-991A-27B0F24D7FA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4B5BF77-D632-5BC5-8DBE-0A3DDC94CC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ED41C1-AEE7-2C40-93FD-63DB12F1EB88}" type="datetimeFigureOut">
              <a:rPr lang="en-US" smtClean="0"/>
              <a:t>5/6/26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8A07140-9066-0CF9-C704-4915283654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7045D77-500C-795F-E1AE-EE143258B3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C40379-4363-8D42-A9C0-4645E2AABAE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579082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DC44AC6A-8D35-D398-896B-3F15ACB87D3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E4E4BA1-381E-A0E8-1B5F-EAAE4C882DD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849AF77-950E-335D-FF0C-E672E3AA11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ED41C1-AEE7-2C40-93FD-63DB12F1EB88}" type="datetimeFigureOut">
              <a:rPr lang="en-US" smtClean="0"/>
              <a:t>5/6/26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83CE6C0-5125-F62E-3416-40C9B7C6C02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C3C9D02-DC14-0102-479D-CB71971C49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C40379-4363-8D42-A9C0-4645E2AABAE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7001593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F8777D6-EFB8-AC8F-5327-876F72D2C8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5C40B98-1BAF-06EE-25BB-832BB26A5C0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0FB054D-1CD1-0BFA-3441-6E9BF72552C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DED41C1-AEE7-2C40-93FD-63DB12F1EB88}" type="datetimeFigureOut">
              <a:rPr lang="en-US" smtClean="0"/>
              <a:t>5/6/26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1B8BB0D-1C1E-712E-CC11-5F05C77A4CE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D0A8949-79E0-DC53-FC90-6DCB5BB63FA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AC40379-4363-8D42-A9C0-4645E2AABAE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7521005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emf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.svg"/><Relationship Id="rId5" Type="http://schemas.openxmlformats.org/officeDocument/2006/relationships/image" Target="../media/image3.svg"/><Relationship Id="rId4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69D3E26B-7C2A-9C0C-2FD9-AE7D039EF50A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25169" t="53824" r="757" b="44423"/>
          <a:stretch>
            <a:fillRect/>
          </a:stretch>
        </p:blipFill>
        <p:spPr>
          <a:xfrm>
            <a:off x="-83501" y="6565076"/>
            <a:ext cx="12275501" cy="290043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496995E4-22D0-5CB1-17D6-9F1CA5F7D22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890294" y="6013826"/>
            <a:ext cx="3076474" cy="269191"/>
          </a:xfrm>
          <a:prstGeom prst="rect">
            <a:avLst/>
          </a:prstGeom>
        </p:spPr>
      </p:pic>
      <p:pic>
        <p:nvPicPr>
          <p:cNvPr id="10" name="Graphic 9">
            <a:extLst>
              <a:ext uri="{FF2B5EF4-FFF2-40B4-BE49-F238E27FC236}">
                <a16:creationId xmlns:a16="http://schemas.microsoft.com/office/drawing/2014/main" id="{CA50DF34-88BC-D568-85E4-79C4A80352B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/>
          <a:stretch/>
        </p:blipFill>
        <p:spPr>
          <a:xfrm>
            <a:off x="876461" y="2113570"/>
            <a:ext cx="4572000" cy="1592580"/>
          </a:xfrm>
          <a:prstGeom prst="rect">
            <a:avLst/>
          </a:prstGeom>
        </p:spPr>
      </p:pic>
      <p:pic>
        <p:nvPicPr>
          <p:cNvPr id="12" name="Graphic 11">
            <a:extLst>
              <a:ext uri="{FF2B5EF4-FFF2-40B4-BE49-F238E27FC236}">
                <a16:creationId xmlns:a16="http://schemas.microsoft.com/office/drawing/2014/main" id="{365C8750-3DF9-F032-55D6-03570616345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rcRect/>
          <a:stretch/>
        </p:blipFill>
        <p:spPr>
          <a:xfrm>
            <a:off x="7067534" y="2182682"/>
            <a:ext cx="4572000" cy="1592580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5BC79CFF-F2A5-F9F7-B3B8-48509D64A75C}"/>
              </a:ext>
            </a:extLst>
          </p:cNvPr>
          <p:cNvSpPr txBox="1"/>
          <p:nvPr/>
        </p:nvSpPr>
        <p:spPr>
          <a:xfrm>
            <a:off x="2325190" y="1731449"/>
            <a:ext cx="173477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CURRENT MAP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8A11EF49-13E2-BEBE-3CA9-A9F9BCDAC3F9}"/>
              </a:ext>
            </a:extLst>
          </p:cNvPr>
          <p:cNvSpPr txBox="1"/>
          <p:nvPr/>
        </p:nvSpPr>
        <p:spPr>
          <a:xfrm>
            <a:off x="8099527" y="1639116"/>
            <a:ext cx="2885534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b="1" dirty="0"/>
              <a:t>PROPOSED MAP</a:t>
            </a:r>
          </a:p>
          <a:p>
            <a:pPr algn="ctr"/>
            <a:r>
              <a:rPr lang="en-US" sz="1200" b="1" dirty="0"/>
              <a:t>(Updated, Courtesy of </a:t>
            </a:r>
            <a:r>
              <a:rPr lang="en-US" sz="1200" b="1" i="1" dirty="0"/>
              <a:t>The </a:t>
            </a:r>
            <a:r>
              <a:rPr lang="en-US" sz="1200" b="1" i="1" dirty="0" err="1"/>
              <a:t>Downballot</a:t>
            </a:r>
            <a:r>
              <a:rPr lang="en-US" sz="1200" b="1" dirty="0"/>
              <a:t>)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8C059075-E1A7-D10F-36FA-A84DBC673C7D}"/>
              </a:ext>
            </a:extLst>
          </p:cNvPr>
          <p:cNvSpPr txBox="1"/>
          <p:nvPr/>
        </p:nvSpPr>
        <p:spPr>
          <a:xfrm>
            <a:off x="1379855" y="3934002"/>
            <a:ext cx="1903228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Average Seats</a:t>
            </a:r>
          </a:p>
          <a:p>
            <a:r>
              <a:rPr lang="en-US" dirty="0"/>
              <a:t>Republican: 8</a:t>
            </a:r>
          </a:p>
          <a:p>
            <a:r>
              <a:rPr lang="en-US" dirty="0"/>
              <a:t>Democrats: 1 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340A0223-B900-7532-82D3-A16F64A430A9}"/>
              </a:ext>
            </a:extLst>
          </p:cNvPr>
          <p:cNvSpPr txBox="1"/>
          <p:nvPr/>
        </p:nvSpPr>
        <p:spPr>
          <a:xfrm>
            <a:off x="7901157" y="3934002"/>
            <a:ext cx="222699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Average Seats</a:t>
            </a:r>
          </a:p>
          <a:p>
            <a:r>
              <a:rPr lang="en-US" dirty="0"/>
              <a:t>Republican: 9</a:t>
            </a:r>
          </a:p>
          <a:p>
            <a:r>
              <a:rPr lang="en-US" dirty="0"/>
              <a:t>Democrats: 0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78BEE60B-8FB9-FBE2-2280-7D0F45B6076E}"/>
              </a:ext>
            </a:extLst>
          </p:cNvPr>
          <p:cNvSpPr txBox="1"/>
          <p:nvPr/>
        </p:nvSpPr>
        <p:spPr>
          <a:xfrm>
            <a:off x="2592232" y="5081017"/>
            <a:ext cx="677602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800" b="1" dirty="0"/>
              <a:t>GOP Net Gain from Redistricting: 1 seat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3FC224D4-E204-2A96-F1F3-42D62BDB8617}"/>
              </a:ext>
            </a:extLst>
          </p:cNvPr>
          <p:cNvSpPr txBox="1"/>
          <p:nvPr/>
        </p:nvSpPr>
        <p:spPr>
          <a:xfrm>
            <a:off x="0" y="6121582"/>
            <a:ext cx="829348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chemeClr val="bg1">
                    <a:lumMod val="75000"/>
                  </a:schemeClr>
                </a:solidFill>
              </a:rPr>
              <a:t>Note: Data from Dave’s Redistricting. Analysis by Prof. Jonathan Cervas. Map shows Harris v. Trump (2024)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23E23DD-9AF8-7EF1-14FA-64F3A256B9FE}"/>
              </a:ext>
            </a:extLst>
          </p:cNvPr>
          <p:cNvSpPr txBox="1"/>
          <p:nvPr/>
        </p:nvSpPr>
        <p:spPr>
          <a:xfrm>
            <a:off x="9278504" y="932382"/>
            <a:ext cx="2688264" cy="154279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b="1" u="none" strike="noStrike" dirty="0">
                <a:solidFill>
                  <a:srgbClr val="0F1419"/>
                </a:solidFill>
                <a:effectLst/>
                <a:latin typeface="Source Serif Pro Semibold" panose="02040603050405020204" pitchFamily="18" charset="0"/>
                <a:ea typeface="Source Serif Pro Semibold" panose="02040603050405020204" pitchFamily="18" charset="0"/>
              </a:rPr>
              <a:t>The Redistrict Network</a:t>
            </a:r>
            <a:endParaRPr lang="en-US" b="1" dirty="0">
              <a:latin typeface="Source Serif Pro Semibold" panose="02040603050405020204" pitchFamily="18" charset="0"/>
              <a:ea typeface="Source Serif Pro Semibold" panose="020406030504050202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0876404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1714</TotalTime>
  <Words>63</Words>
  <Application>Microsoft Macintosh PowerPoint</Application>
  <PresentationFormat>Widescreen</PresentationFormat>
  <Paragraphs>13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6" baseType="lpstr">
      <vt:lpstr>Aptos</vt:lpstr>
      <vt:lpstr>Aptos Display</vt:lpstr>
      <vt:lpstr>Arial</vt:lpstr>
      <vt:lpstr>Source Serif Pro Semibold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Jonathan Cervas</dc:creator>
  <cp:lastModifiedBy>Jonathan Cervas</cp:lastModifiedBy>
  <cp:revision>4</cp:revision>
  <dcterms:created xsi:type="dcterms:W3CDTF">2026-02-19T02:47:50Z</dcterms:created>
  <dcterms:modified xsi:type="dcterms:W3CDTF">2026-05-06T21:27:03Z</dcterms:modified>
</cp:coreProperties>
</file>