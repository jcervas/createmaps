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D382"/>
    <a:srgbClr val="F0A1A0"/>
    <a:srgbClr val="8CC1EB"/>
    <a:srgbClr val="F0BFBE"/>
    <a:srgbClr val="B3D3EC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72"/>
    <p:restoredTop sz="94635"/>
  </p:normalViewPr>
  <p:slideViewPr>
    <p:cSldViewPr snapToGrid="0">
      <p:cViewPr varScale="1">
        <p:scale>
          <a:sx n="160" d="100"/>
          <a:sy n="160" d="100"/>
        </p:scale>
        <p:origin x="3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5F1E1D-796B-2044-A749-6660BB52FB68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8B950A-1D44-2149-86FB-79A245E28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81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B950A-1D44-2149-86FB-79A245E288A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35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CBCCF-31A7-6983-55E3-9F5C845AF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138E94-1530-E44D-4855-6C6078463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3BBF6-6B76-7ADF-2C66-FCE1729A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B3AB1-07CA-53C3-3484-D729EC59A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D3361-4808-9005-4AF7-1BC85805B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76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15852-C2C6-389D-61F1-D6EA2C9FB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9406C-38BE-FECF-AB4F-96DB2955C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AEEE7-7329-98D2-B0B7-64F1BE266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9CBA8-F96D-29EE-1314-9D3567210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DD827-F490-853A-5CCC-1676FF35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3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3C4EB-9CB3-737D-638E-E4B1CD518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50F9F-E4D4-B022-8A03-065CBD068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BB677A-9EC5-EFAB-EBC9-3F7A8F796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2BD41-6C39-8505-C295-E0D2B9855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7619D-1491-238E-2BD6-3D5B2D7E3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841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79E8-0901-CFF9-F29B-B786B4BBD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74C47-C937-A929-3017-88AFD4EF31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437F1B-CEB7-9114-E806-AD37630AD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75B45-C807-C5F3-3DC7-C284DC32F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538D5-C418-4475-C01F-A71A93B5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E576B-FC61-0C19-D2C6-C19CE54BC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46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81D0-ED07-96A1-CFD8-052B423E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C8A47-81B0-17A2-A0CD-D0C3BFF06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D44848-4DE7-98A9-E19E-72D04BE55D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2416B3-3F98-0083-4E24-55DB3AB562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38A14E-1885-172B-B875-0F1B7DD10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934932-3E7A-6975-560A-900087705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ACEA3A-1981-6822-5521-B10A7B551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D6310E-5C8F-87D8-64E1-3B798179B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06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235A-1B8B-280E-965F-AF2F54F37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4EAF6D-E371-7AA4-CD56-15B41E8A3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388F5-8E8B-6734-B376-3CD18872F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A636C-49ED-910A-6356-C88DD6472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941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ED6784-F126-83D5-CC1B-4A7C496FC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FCF1E4-9BC4-D685-0E6B-498176E09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8D9BC-B101-CD2D-0531-55E38B76F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75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27AE-CFFA-D2C1-0CBA-1B2D49A96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AE33-6CC9-5247-1C98-E49D9A773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71CC-96DC-5AF7-62E5-5F17ED629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9E04-3A0C-8A60-6B18-6C0FDE954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D8E5D9-2265-EC29-869C-03B7F860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F6B44D-448B-6848-7543-46158599C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35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14690-B1F7-23AC-B65B-44844B4F1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A1BAFB-48DC-15F7-74CB-75321D9D6B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D4129-F3E5-C3CF-EA90-3F836E46A4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A2DA-7EF8-30F5-881C-A6EEB2E5E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C010F5-FD65-6A4E-F512-F83E871F9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8EF51-8E5E-0A61-AAAE-3AF6899C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42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FD99-8554-7EE7-B6B2-38BA8E4E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A6625C-E4C0-EB2E-3CE9-7134ECB00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68046-1D98-EBDE-72F5-E590C23C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15E6F0-BD44-88E6-F8D8-CC08E33CB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EB3C-C6C6-3823-E8C6-1FDC9337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1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698B7D-A03E-E19A-3671-DDAAB7DBFB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5D8E9C-F044-E2A0-1EE2-78D9183BA5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72048-E0C4-B35C-22FC-7807C22D2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40896-33E9-43C2-7149-EAC6E484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C83E4-2B34-0081-722D-143C8F75D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78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2EA095-4207-EBF0-2872-7C76A14E7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5F102-3715-1588-6EB3-67898B0F4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95937-B3F9-EBCE-B148-FF65B126C2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F5A7F-1C29-6C82-E5DC-48F3EB82B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9111C-98E0-A264-371D-FBE740606E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048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raphic 37">
            <a:extLst>
              <a:ext uri="{FF2B5EF4-FFF2-40B4-BE49-F238E27FC236}">
                <a16:creationId xmlns:a16="http://schemas.microsoft.com/office/drawing/2014/main" id="{73DD9F47-0E7A-AFCD-8A25-A5981D7D9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92960" y="765178"/>
            <a:ext cx="7620000" cy="47625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19F39E3-88A0-0447-1356-D35CE9047E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169" t="53824" r="757" b="44423"/>
          <a:stretch>
            <a:fillRect/>
          </a:stretch>
        </p:blipFill>
        <p:spPr>
          <a:xfrm>
            <a:off x="-41751" y="6583104"/>
            <a:ext cx="12275501" cy="2900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1131AC4-2358-72EA-184F-E6A5D20B57D5}"/>
              </a:ext>
            </a:extLst>
          </p:cNvPr>
          <p:cNvSpPr txBox="1"/>
          <p:nvPr/>
        </p:nvSpPr>
        <p:spPr>
          <a:xfrm>
            <a:off x="1023221" y="5840794"/>
            <a:ext cx="73889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ource Serif Pro" panose="02040603050405020204" pitchFamily="18" charset="0"/>
                <a:ea typeface="Source Serif Pro" panose="02040603050405020204" pitchFamily="18" charset="0"/>
              </a:rPr>
              <a:t>Note: Utah redrawn after court order. Ohio redraw as required by statute. Louisiana map struck down as a racial gerrymander (</a:t>
            </a:r>
            <a:r>
              <a:rPr lang="en-US" sz="1100" i="1" dirty="0">
                <a:solidFill>
                  <a:schemeClr val="bg1">
                    <a:lumMod val="50000"/>
                  </a:schemeClr>
                </a:solidFill>
                <a:latin typeface="Source Serif Pro" panose="02040603050405020204" pitchFamily="18" charset="0"/>
                <a:ea typeface="Source Serif Pro" panose="02040603050405020204" pitchFamily="18" charset="0"/>
              </a:rPr>
              <a:t>LA v. Callias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ource Serif Pro" panose="02040603050405020204" pitchFamily="18" charset="0"/>
                <a:ea typeface="Source Serif Pro" panose="02040603050405020204" pitchFamily="18" charset="0"/>
              </a:rPr>
              <a:t>). Data: Dave’s Redistricting, VEST.</a:t>
            </a:r>
          </a:p>
        </p:txBody>
      </p:sp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35C1EA9B-79EA-BA58-C1AE-0139F81C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909882"/>
              </p:ext>
            </p:extLst>
          </p:nvPr>
        </p:nvGraphicFramePr>
        <p:xfrm>
          <a:off x="10176305" y="4203173"/>
          <a:ext cx="1775664" cy="1477620"/>
        </p:xfrm>
        <a:graphic>
          <a:graphicData uri="http://schemas.openxmlformats.org/drawingml/2006/table">
            <a:tbl>
              <a:tblPr firstRow="1" bandRow="1"/>
              <a:tblGrid>
                <a:gridCol w="1090231">
                  <a:extLst>
                    <a:ext uri="{9D8B030D-6E8A-4147-A177-3AD203B41FA5}">
                      <a16:colId xmlns:a16="http://schemas.microsoft.com/office/drawing/2014/main" val="2899711490"/>
                    </a:ext>
                  </a:extLst>
                </a:gridCol>
                <a:gridCol w="685433">
                  <a:extLst>
                    <a:ext uri="{9D8B030D-6E8A-4147-A177-3AD203B41FA5}">
                      <a16:colId xmlns:a16="http://schemas.microsoft.com/office/drawing/2014/main" val="1116278752"/>
                    </a:ext>
                  </a:extLst>
                </a:gridCol>
              </a:tblGrid>
              <a:tr h="136016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70592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Source Serif Pro" panose="02040603050405020204" pitchFamily="18" charset="0"/>
                          <a:ea typeface="Source Serif Pro" panose="02040603050405020204" pitchFamily="18" charset="0"/>
                        </a:rPr>
                        <a:t>Democrat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baseline="30000" dirty="0">
                          <a:solidFill>
                            <a:srgbClr val="8CC1EB"/>
                          </a:solidFill>
                        </a:rPr>
                        <a:t>+</a:t>
                      </a:r>
                      <a:r>
                        <a:rPr lang="en-US" sz="1600" b="1" dirty="0">
                          <a:solidFill>
                            <a:srgbClr val="8CC1EB"/>
                          </a:solidFill>
                        </a:rPr>
                        <a:t>7.19</a:t>
                      </a:r>
                      <a:endParaRPr lang="en-US" sz="1600" b="1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23081810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Source Serif Pro" panose="02040603050405020204" pitchFamily="18" charset="0"/>
                          <a:ea typeface="Source Serif Pro" panose="02040603050405020204" pitchFamily="18" charset="0"/>
                        </a:rPr>
                        <a:t>Republican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baseline="30000" dirty="0">
                          <a:solidFill>
                            <a:srgbClr val="F0A1A0"/>
                          </a:solidFill>
                        </a:rPr>
                        <a:t>+</a:t>
                      </a:r>
                      <a:r>
                        <a:rPr lang="en-US" sz="1600" b="1" baseline="0" dirty="0">
                          <a:solidFill>
                            <a:srgbClr val="F0A1A0"/>
                          </a:solidFill>
                        </a:rPr>
                        <a:t>9.58</a:t>
                      </a:r>
                      <a:endParaRPr 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75176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7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54998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kern="1200" dirty="0">
                          <a:solidFill>
                            <a:schemeClr val="tx1"/>
                          </a:solidFill>
                          <a:latin typeface="Source Serif Pro" panose="02040603050405020204" pitchFamily="18" charset="0"/>
                          <a:ea typeface="Source Serif Pro" panose="02040603050405020204" pitchFamily="18" charset="0"/>
                          <a:cs typeface="+mn-cs"/>
                        </a:rPr>
                        <a:t>Net gain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baseline="30000" dirty="0">
                          <a:solidFill>
                            <a:srgbClr val="F0A1A0"/>
                          </a:solidFill>
                        </a:rPr>
                        <a:t>+</a:t>
                      </a:r>
                      <a:r>
                        <a:rPr lang="en-US" sz="1600" b="1" baseline="0" dirty="0">
                          <a:solidFill>
                            <a:srgbClr val="F0A1A0"/>
                          </a:solidFill>
                        </a:rPr>
                        <a:t>2</a:t>
                      </a:r>
                      <a:r>
                        <a:rPr lang="en-US" sz="1600" b="1" dirty="0">
                          <a:solidFill>
                            <a:srgbClr val="F0A1A0"/>
                          </a:solidFill>
                        </a:rPr>
                        <a:t>.39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75668098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3386694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3904BDF6-946C-C3E8-7412-058DDA9DA0BE}"/>
              </a:ext>
            </a:extLst>
          </p:cNvPr>
          <p:cNvSpPr txBox="1"/>
          <p:nvPr/>
        </p:nvSpPr>
        <p:spPr>
          <a:xfrm>
            <a:off x="977976" y="169534"/>
            <a:ext cx="660756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cap="all" dirty="0">
                <a:latin typeface="Source Serif 4 Black" panose="02040603050405020204" pitchFamily="18" charset="0"/>
                <a:ea typeface="Source Serif 4 Black" panose="02040603050405020204" pitchFamily="18" charset="0"/>
              </a:rPr>
              <a:t>Effect of New Maps Enacted Since the 2024 Election</a:t>
            </a:r>
          </a:p>
          <a:p>
            <a:pPr algn="r"/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ource Serif 4 Medium" panose="02040603050405020204" pitchFamily="18" charset="0"/>
                <a:ea typeface="Source Serif 4 Medium" panose="02040603050405020204" pitchFamily="18" charset="0"/>
              </a:rPr>
              <a:t>Prof. Jonathan Cervas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E2E2BE-BA84-DCD0-38E0-BC2415E759C3}"/>
              </a:ext>
            </a:extLst>
          </p:cNvPr>
          <p:cNvSpPr txBox="1"/>
          <p:nvPr/>
        </p:nvSpPr>
        <p:spPr>
          <a:xfrm rot="1823142">
            <a:off x="4965336" y="-3806558"/>
            <a:ext cx="6593600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 b="1" dirty="0">
                <a:solidFill>
                  <a:schemeClr val="tx1">
                    <a:alpha val="49000"/>
                  </a:schemeClr>
                </a:solidFill>
              </a:rPr>
              <a:t>DRAFT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403200C-7CDA-1DE7-1C37-E6C63BC235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9032" y="6006280"/>
            <a:ext cx="3076474" cy="2691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67394F-E056-B396-1D3E-EA97E7FAAD2B}"/>
              </a:ext>
            </a:extLst>
          </p:cNvPr>
          <p:cNvSpPr txBox="1"/>
          <p:nvPr/>
        </p:nvSpPr>
        <p:spPr>
          <a:xfrm>
            <a:off x="6919361" y="5001758"/>
            <a:ext cx="1236571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Source Serif Pro" panose="02040603050405020204" pitchFamily="18" charset="0"/>
                <a:ea typeface="Source Serif Pro" panose="02040603050405020204" pitchFamily="18" charset="0"/>
              </a:rPr>
              <a:t>Ruled unconstitutional (</a:t>
            </a:r>
            <a:r>
              <a:rPr lang="en-US" sz="1100" i="1" dirty="0">
                <a:latin typeface="Source Serif Pro" panose="02040603050405020204" pitchFamily="18" charset="0"/>
                <a:ea typeface="Source Serif Pro" panose="02040603050405020204" pitchFamily="18" charset="0"/>
              </a:rPr>
              <a:t>Callais</a:t>
            </a:r>
            <a:r>
              <a:rPr lang="en-US" sz="1100" dirty="0">
                <a:latin typeface="Source Serif Pro" panose="02040603050405020204" pitchFamily="18" charset="0"/>
                <a:ea typeface="Source Serif Pro" panose="02040603050405020204" pitchFamily="18" charset="0"/>
              </a:rPr>
              <a:t>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2E81FB-AA4A-CA19-03D9-27BF78A04BD7}"/>
              </a:ext>
            </a:extLst>
          </p:cNvPr>
          <p:cNvSpPr txBox="1"/>
          <p:nvPr/>
        </p:nvSpPr>
        <p:spPr>
          <a:xfrm>
            <a:off x="4128887" y="2352902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0.94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770910-D57B-2238-FBBF-137216D6FFD6}"/>
              </a:ext>
            </a:extLst>
          </p:cNvPr>
          <p:cNvSpPr txBox="1"/>
          <p:nvPr/>
        </p:nvSpPr>
        <p:spPr>
          <a:xfrm>
            <a:off x="2664912" y="242872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6.25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EE4C14-56D1-0A04-ACD9-638CBE02B454}"/>
              </a:ext>
            </a:extLst>
          </p:cNvPr>
          <p:cNvSpPr txBox="1"/>
          <p:nvPr/>
        </p:nvSpPr>
        <p:spPr>
          <a:xfrm>
            <a:off x="8860751" y="285338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strike="sngStrike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strike="sngStrike" dirty="0">
                <a:solidFill>
                  <a:srgbClr val="8CC1EB"/>
                </a:solidFill>
                <a:latin typeface="Aptos Display" panose="020B0004020202020204" pitchFamily="34" charset="0"/>
              </a:rPr>
              <a:t>3.08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C7C840-889E-FD26-05BC-867A0B6ADBB3}"/>
              </a:ext>
            </a:extLst>
          </p:cNvPr>
          <p:cNvSpPr txBox="1"/>
          <p:nvPr/>
        </p:nvSpPr>
        <p:spPr>
          <a:xfrm>
            <a:off x="5527878" y="2833588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1B32AF-4F1B-A759-131E-9C628A3452A5}"/>
              </a:ext>
            </a:extLst>
          </p:cNvPr>
          <p:cNvSpPr txBox="1"/>
          <p:nvPr/>
        </p:nvSpPr>
        <p:spPr>
          <a:xfrm>
            <a:off x="5412194" y="350671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3.29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F44F00-1B6C-AEA9-5A3E-545C42B4A30A}"/>
              </a:ext>
            </a:extLst>
          </p:cNvPr>
          <p:cNvSpPr txBox="1"/>
          <p:nvPr/>
        </p:nvSpPr>
        <p:spPr>
          <a:xfrm>
            <a:off x="7388642" y="198357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0.65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FDEEA4-A5EF-2044-96E4-F9B325D53B50}"/>
              </a:ext>
            </a:extLst>
          </p:cNvPr>
          <p:cNvSpPr txBox="1"/>
          <p:nvPr/>
        </p:nvSpPr>
        <p:spPr>
          <a:xfrm>
            <a:off x="8896831" y="331827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0.52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C68397-32D2-7D53-D5D2-7974377FFF42}"/>
              </a:ext>
            </a:extLst>
          </p:cNvPr>
          <p:cNvSpPr txBox="1"/>
          <p:nvPr/>
        </p:nvSpPr>
        <p:spPr>
          <a:xfrm>
            <a:off x="8343067" y="4453568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2.23</a:t>
            </a: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E57F2C4B-7FAC-94E2-3B7B-53D971961267}"/>
              </a:ext>
            </a:extLst>
          </p:cNvPr>
          <p:cNvSpPr/>
          <p:nvPr/>
        </p:nvSpPr>
        <p:spPr>
          <a:xfrm rot="11065677">
            <a:off x="6619610" y="4608383"/>
            <a:ext cx="731520" cy="521589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018138-6F2F-E7C9-BBA5-F376330F683C}"/>
              </a:ext>
            </a:extLst>
          </p:cNvPr>
          <p:cNvSpPr txBox="1"/>
          <p:nvPr/>
        </p:nvSpPr>
        <p:spPr>
          <a:xfrm>
            <a:off x="7351891" y="2195511"/>
            <a:ext cx="74892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39A5B5-1870-EF0E-2E7C-43B1EF9A79FD}"/>
              </a:ext>
            </a:extLst>
          </p:cNvPr>
          <p:cNvSpPr txBox="1"/>
          <p:nvPr/>
        </p:nvSpPr>
        <p:spPr>
          <a:xfrm>
            <a:off x="5634888" y="3055441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39F380-BB31-29FD-159F-94B18CEC61AC}"/>
              </a:ext>
            </a:extLst>
          </p:cNvPr>
          <p:cNvSpPr txBox="1"/>
          <p:nvPr/>
        </p:nvSpPr>
        <p:spPr>
          <a:xfrm>
            <a:off x="8933614" y="3073075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strike="sngStrike" dirty="0">
                <a:latin typeface="Aptos Display" panose="020B0004020202020204" pitchFamily="34" charset="0"/>
              </a:rPr>
              <a:t>(</a:t>
            </a:r>
            <a:r>
              <a:rPr lang="en-US" sz="1100" b="1" strike="sngStrike" baseline="30000" dirty="0">
                <a:latin typeface="Aptos Display" panose="020B0004020202020204" pitchFamily="34" charset="0"/>
              </a:rPr>
              <a:t>+</a:t>
            </a:r>
            <a:r>
              <a:rPr lang="en-US" sz="1100" b="1" strike="sngStrike" dirty="0">
                <a:latin typeface="Aptos Display" panose="020B0004020202020204" pitchFamily="34" charset="0"/>
              </a:rPr>
              <a:t>2-</a:t>
            </a:r>
            <a:r>
              <a:rPr lang="en-US" sz="1100" b="1" strike="sngStrike" baseline="30000" dirty="0">
                <a:latin typeface="Aptos Display" panose="020B0004020202020204" pitchFamily="34" charset="0"/>
              </a:rPr>
              <a:t>+</a:t>
            </a:r>
            <a:r>
              <a:rPr lang="en-US" sz="1100" b="1" strike="sngStrike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FA0F06-C893-0F0C-B6EC-EEF1783210D4}"/>
              </a:ext>
            </a:extLst>
          </p:cNvPr>
          <p:cNvSpPr txBox="1"/>
          <p:nvPr/>
        </p:nvSpPr>
        <p:spPr>
          <a:xfrm>
            <a:off x="8998399" y="354510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2726AD-B0A8-4CA6-22B7-86E3A71040F1}"/>
              </a:ext>
            </a:extLst>
          </p:cNvPr>
          <p:cNvSpPr txBox="1"/>
          <p:nvPr/>
        </p:nvSpPr>
        <p:spPr>
          <a:xfrm>
            <a:off x="8413819" y="4680373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7EE30E-8EEE-207E-100B-A1CA5EA0C22F}"/>
              </a:ext>
            </a:extLst>
          </p:cNvPr>
          <p:cNvSpPr txBox="1"/>
          <p:nvPr/>
        </p:nvSpPr>
        <p:spPr>
          <a:xfrm>
            <a:off x="5469293" y="371341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5)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90B225-6437-E097-D2CA-5D1A8AE86AC1}"/>
              </a:ext>
            </a:extLst>
          </p:cNvPr>
          <p:cNvSpPr txBox="1"/>
          <p:nvPr/>
        </p:nvSpPr>
        <p:spPr>
          <a:xfrm>
            <a:off x="4190383" y="2586462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3B7817-2036-3C19-45D5-3190E389B433}"/>
              </a:ext>
            </a:extLst>
          </p:cNvPr>
          <p:cNvSpPr txBox="1"/>
          <p:nvPr/>
        </p:nvSpPr>
        <p:spPr>
          <a:xfrm>
            <a:off x="2727012" y="265341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3-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9)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784CCC-FA38-391A-F196-EC025FD75294}"/>
              </a:ext>
            </a:extLst>
          </p:cNvPr>
          <p:cNvSpPr txBox="1"/>
          <p:nvPr/>
        </p:nvSpPr>
        <p:spPr>
          <a:xfrm>
            <a:off x="9947602" y="2902776"/>
            <a:ext cx="197784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Three additional states have taken steps to change their maps after </a:t>
            </a:r>
            <a:r>
              <a:rPr lang="en-US" sz="1100" i="1" dirty="0">
                <a:latin typeface="Source Serif 4" panose="02040603050405020204" pitchFamily="18" charset="0"/>
                <a:ea typeface="Source Serif 4" panose="02040603050405020204" pitchFamily="18" charset="0"/>
              </a:rPr>
              <a:t>Callais</a:t>
            </a:r>
            <a:endParaRPr lang="en-US" sz="1100" dirty="0">
              <a:latin typeface="Source Serif 4 Medium" panose="02040603050405020204" pitchFamily="18" charset="0"/>
              <a:ea typeface="Source Serif 4 Medium" panose="02040603050405020204" pitchFamily="18" charset="0"/>
            </a:endParaRPr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820236E8-953D-7322-8974-0B9E3FBFCC47}"/>
              </a:ext>
            </a:extLst>
          </p:cNvPr>
          <p:cNvSpPr/>
          <p:nvPr/>
        </p:nvSpPr>
        <p:spPr>
          <a:xfrm>
            <a:off x="8092681" y="3829964"/>
            <a:ext cx="731520" cy="521589"/>
          </a:xfrm>
          <a:prstGeom prst="arc">
            <a:avLst>
              <a:gd name="adj1" fmla="val 16200000"/>
              <a:gd name="adj2" fmla="val 20682646"/>
            </a:avLst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805BD-1FE5-5397-8287-E638AFFDEC36}"/>
              </a:ext>
            </a:extLst>
          </p:cNvPr>
          <p:cNvSpPr txBox="1"/>
          <p:nvPr/>
        </p:nvSpPr>
        <p:spPr>
          <a:xfrm>
            <a:off x="8860751" y="-343266"/>
            <a:ext cx="2688264" cy="1542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u="none" strike="noStrike" dirty="0">
                <a:solidFill>
                  <a:srgbClr val="0F1419"/>
                </a:solidFill>
                <a:effectLst/>
                <a:latin typeface="Source Serif Pro Semibold" panose="02040603050405020204" pitchFamily="18" charset="0"/>
                <a:ea typeface="Source Serif Pro Semibold" panose="02040603050405020204" pitchFamily="18" charset="0"/>
              </a:rPr>
              <a:t>The Redistrict Network</a:t>
            </a:r>
            <a:endParaRPr lang="en-US" b="1" dirty="0">
              <a:latin typeface="Source Serif Pro Semibold" panose="02040603050405020204" pitchFamily="18" charset="0"/>
              <a:ea typeface="Source Serif Pro Semibold" panose="0204060305040502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C79CA9-5287-CE7D-8025-745B824C6148}"/>
              </a:ext>
            </a:extLst>
          </p:cNvPr>
          <p:cNvSpPr txBox="1"/>
          <p:nvPr/>
        </p:nvSpPr>
        <p:spPr>
          <a:xfrm>
            <a:off x="6387931" y="3596908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C99E4-89E4-5027-DCB6-E85AD5F648C1}"/>
              </a:ext>
            </a:extLst>
          </p:cNvPr>
          <p:cNvSpPr txBox="1"/>
          <p:nvPr/>
        </p:nvSpPr>
        <p:spPr>
          <a:xfrm>
            <a:off x="6339450" y="3818761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237DE36E-E0BF-B2AF-44F9-4441DF7F8C0D}"/>
              </a:ext>
            </a:extLst>
          </p:cNvPr>
          <p:cNvSpPr/>
          <p:nvPr/>
        </p:nvSpPr>
        <p:spPr>
          <a:xfrm flipH="1">
            <a:off x="6735114" y="3610580"/>
            <a:ext cx="635060" cy="252573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3581-20AB-404A-1F22-BAF620003FAF}"/>
              </a:ext>
            </a:extLst>
          </p:cNvPr>
          <p:cNvSpPr txBox="1"/>
          <p:nvPr/>
        </p:nvSpPr>
        <p:spPr>
          <a:xfrm>
            <a:off x="9970169" y="409407"/>
            <a:ext cx="15568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erif Pro" panose="02040603050405020204" pitchFamily="18" charset="0"/>
                <a:ea typeface="Source Serif Pro" panose="02040603050405020204" pitchFamily="18" charset="0"/>
              </a:rPr>
              <a:t>Updated May 10, 2026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FFF9DE-43DE-094F-DFDE-8DCC7A607129}"/>
              </a:ext>
            </a:extLst>
          </p:cNvPr>
          <p:cNvSpPr txBox="1"/>
          <p:nvPr/>
        </p:nvSpPr>
        <p:spPr>
          <a:xfrm>
            <a:off x="8677832" y="3952631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D9A65A-E81E-1F09-DF06-284E91E790FC}"/>
              </a:ext>
            </a:extLst>
          </p:cNvPr>
          <p:cNvSpPr txBox="1"/>
          <p:nvPr/>
        </p:nvSpPr>
        <p:spPr>
          <a:xfrm>
            <a:off x="8598948" y="4171859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</p:spTree>
    <p:extLst>
      <p:ext uri="{BB962C8B-B14F-4D97-AF65-F5344CB8AC3E}">
        <p14:creationId xmlns:p14="http://schemas.microsoft.com/office/powerpoint/2010/main" val="2693761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18060</TotalTime>
  <Words>152</Words>
  <Application>Microsoft Macintosh PowerPoint</Application>
  <PresentationFormat>Widescreen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Source Serif 4</vt:lpstr>
      <vt:lpstr>Source Serif Pro</vt:lpstr>
      <vt:lpstr>Source Serif Pro Semibold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Cervas</dc:creator>
  <cp:lastModifiedBy>Jonathan Cervas</cp:lastModifiedBy>
  <cp:revision>87</cp:revision>
  <dcterms:created xsi:type="dcterms:W3CDTF">2026-04-24T19:19:03Z</dcterms:created>
  <dcterms:modified xsi:type="dcterms:W3CDTF">2026-06-02T02:00:39Z</dcterms:modified>
</cp:coreProperties>
</file>